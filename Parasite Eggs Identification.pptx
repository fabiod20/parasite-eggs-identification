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3" r:id="rId3"/>
    <p:sldId id="257" r:id="rId4"/>
    <p:sldId id="285" r:id="rId5"/>
    <p:sldId id="258" r:id="rId6"/>
    <p:sldId id="259" r:id="rId7"/>
    <p:sldId id="260" r:id="rId8"/>
    <p:sldId id="262" r:id="rId9"/>
    <p:sldId id="286" r:id="rId10"/>
    <p:sldId id="265" r:id="rId11"/>
    <p:sldId id="267" r:id="rId12"/>
    <p:sldId id="269" r:id="rId13"/>
    <p:sldId id="287" r:id="rId14"/>
    <p:sldId id="271" r:id="rId15"/>
    <p:sldId id="273" r:id="rId16"/>
    <p:sldId id="278" r:id="rId17"/>
    <p:sldId id="280" r:id="rId18"/>
    <p:sldId id="275" r:id="rId19"/>
    <p:sldId id="277" r:id="rId20"/>
    <p:sldId id="288" r:id="rId21"/>
    <p:sldId id="281" r:id="rId22"/>
    <p:sldId id="28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50" d="100"/>
          <a:sy n="50" d="100"/>
        </p:scale>
        <p:origin x="-29" y="7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12/18/2020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42A54C80-263E-416B-A8E0-580EDEADCBDC}" type="datetimeFigureOut">
              <a:rPr lang="en-US" dirty="0"/>
              <a:t>12/18/2020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dirty="0"/>
              <a:t>Fare clic sull'icona per inserire un'immagine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12/18/2020</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it-IT"/>
              <a:t>Fare clic per modificare lo stile del titolo dello schema</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Fare clic per modificare gli stili del testo dello schema</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12/18/2020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c/unina-data-mining-2021-minicontest-n3/overview"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www.kaggle.com/c/unina-data-mining-2021-minicontest-n3/data"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2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77B7408-C4F5-4AF6-AF38-6A312750EEA2}"/>
              </a:ext>
            </a:extLst>
          </p:cNvPr>
          <p:cNvSpPr>
            <a:spLocks noGrp="1"/>
          </p:cNvSpPr>
          <p:nvPr>
            <p:ph type="ctrTitle"/>
          </p:nvPr>
        </p:nvSpPr>
        <p:spPr>
          <a:xfrm>
            <a:off x="1278384" y="2404534"/>
            <a:ext cx="7995619" cy="1646302"/>
          </a:xfrm>
        </p:spPr>
        <p:txBody>
          <a:bodyPr/>
          <a:lstStyle/>
          <a:p>
            <a:r>
              <a:rPr lang="en-GB" sz="5000" dirty="0"/>
              <a:t>Parasite Eggs Identification</a:t>
            </a:r>
          </a:p>
        </p:txBody>
      </p:sp>
      <p:sp>
        <p:nvSpPr>
          <p:cNvPr id="3" name="Sottotitolo 2">
            <a:extLst>
              <a:ext uri="{FF2B5EF4-FFF2-40B4-BE49-F238E27FC236}">
                <a16:creationId xmlns:a16="http://schemas.microsoft.com/office/drawing/2014/main" id="{61049C08-E030-451E-84DA-A6523EE4ABD3}"/>
              </a:ext>
            </a:extLst>
          </p:cNvPr>
          <p:cNvSpPr>
            <a:spLocks noGrp="1"/>
          </p:cNvSpPr>
          <p:nvPr>
            <p:ph type="subTitle" idx="1"/>
          </p:nvPr>
        </p:nvSpPr>
        <p:spPr/>
        <p:txBody>
          <a:bodyPr>
            <a:normAutofit/>
          </a:bodyPr>
          <a:lstStyle/>
          <a:p>
            <a:r>
              <a:rPr lang="pt-BR" sz="2000" dirty="0"/>
              <a:t>UniNa - Data Mining 20/21 - MiniContest n3</a:t>
            </a:r>
          </a:p>
        </p:txBody>
      </p:sp>
    </p:spTree>
    <p:extLst>
      <p:ext uri="{BB962C8B-B14F-4D97-AF65-F5344CB8AC3E}">
        <p14:creationId xmlns:p14="http://schemas.microsoft.com/office/powerpoint/2010/main" val="3154484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6582886-877C-4AEC-A77F-8055EB9A0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9" name="Freeform 14">
              <a:extLst>
                <a:ext uri="{FF2B5EF4-FFF2-40B4-BE49-F238E27FC236}">
                  <a16:creationId xmlns:a16="http://schemas.microsoft.com/office/drawing/2014/main" id="{171A838D-27EA-485C-9A80-DCE624AB3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0" name="Straight Connector 9">
              <a:extLst>
                <a:ext uri="{FF2B5EF4-FFF2-40B4-BE49-F238E27FC236}">
                  <a16:creationId xmlns:a16="http://schemas.microsoft.com/office/drawing/2014/main" id="{9059F313-A1BB-425E-9626-2BD43CAC64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9ABF76A-A1AE-44BB-9ECB-D55D2FE29B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5B6D2EC4-82D3-43B8-82D6-028CB4345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520034CE-71F9-4E0F-94D8-99335CB85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926C6C0-16F7-4CDC-B481-2D19B2F3B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042CE423-CE6E-4EE9-91F2-3E40EFB40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699BB4BD-31D7-434C-A6DB-E2CF3ACF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23D406B8-656A-4D8B-91D0-BF4202C86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83F4BFB6-D6B8-446C-8E17-3D54DCA9F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lumMod val="75000"/>
              <a:alpha val="88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26" name="Straight Connector 2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egnaposto testo 2">
            <a:extLst>
              <a:ext uri="{FF2B5EF4-FFF2-40B4-BE49-F238E27FC236}">
                <a16:creationId xmlns:a16="http://schemas.microsoft.com/office/drawing/2014/main" id="{0720D15E-47D6-4D6F-83C9-9BB002FA8EAB}"/>
              </a:ext>
            </a:extLst>
          </p:cNvPr>
          <p:cNvSpPr>
            <a:spLocks noGrp="1"/>
          </p:cNvSpPr>
          <p:nvPr>
            <p:ph type="body" idx="1"/>
          </p:nvPr>
        </p:nvSpPr>
        <p:spPr>
          <a:xfrm>
            <a:off x="1507067" y="4050833"/>
            <a:ext cx="7766936" cy="1096899"/>
          </a:xfrm>
        </p:spPr>
        <p:txBody>
          <a:bodyPr vert="horz" lIns="91440" tIns="45720" rIns="91440" bIns="45720" rtlCol="0" anchor="t">
            <a:normAutofit/>
          </a:bodyPr>
          <a:lstStyle/>
          <a:p>
            <a:pPr algn="r"/>
            <a:r>
              <a:rPr lang="en-US" sz="1800" dirty="0"/>
              <a:t>Introducing the problem</a:t>
            </a:r>
          </a:p>
        </p:txBody>
      </p:sp>
      <p:sp>
        <p:nvSpPr>
          <p:cNvPr id="2" name="Titolo 1">
            <a:extLst>
              <a:ext uri="{FF2B5EF4-FFF2-40B4-BE49-F238E27FC236}">
                <a16:creationId xmlns:a16="http://schemas.microsoft.com/office/drawing/2014/main" id="{8C870FF0-01B0-4F01-A4E9-D9F474B0259D}"/>
              </a:ext>
            </a:extLst>
          </p:cNvPr>
          <p:cNvSpPr>
            <a:spLocks noGrp="1"/>
          </p:cNvSpPr>
          <p:nvPr>
            <p:ph type="title"/>
          </p:nvPr>
        </p:nvSpPr>
        <p:spPr>
          <a:xfrm>
            <a:off x="1507067" y="1397000"/>
            <a:ext cx="7766936" cy="2653836"/>
          </a:xfrm>
        </p:spPr>
        <p:txBody>
          <a:bodyPr vert="horz" lIns="91440" tIns="45720" rIns="91440" bIns="45720" rtlCol="0" anchor="b">
            <a:normAutofit/>
          </a:bodyPr>
          <a:lstStyle/>
          <a:p>
            <a:pPr algn="r"/>
            <a:r>
              <a:rPr lang="en-US" sz="4800" dirty="0"/>
              <a:t>Introduction</a:t>
            </a:r>
          </a:p>
        </p:txBody>
      </p:sp>
      <p:sp>
        <p:nvSpPr>
          <p:cNvPr id="30"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208912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A9C8AB-310C-4A48-AEE0-295DF52DF272}"/>
              </a:ext>
            </a:extLst>
          </p:cNvPr>
          <p:cNvSpPr>
            <a:spLocks noGrp="1"/>
          </p:cNvSpPr>
          <p:nvPr>
            <p:ph type="title"/>
          </p:nvPr>
        </p:nvSpPr>
        <p:spPr/>
        <p:txBody>
          <a:bodyPr anchor="ctr"/>
          <a:lstStyle/>
          <a:p>
            <a:r>
              <a:rPr lang="en-GB" dirty="0"/>
              <a:t>Introduction</a:t>
            </a:r>
            <a:endParaRPr lang="it-IT" dirty="0"/>
          </a:p>
        </p:txBody>
      </p:sp>
      <p:sp>
        <p:nvSpPr>
          <p:cNvPr id="3" name="Segnaposto contenuto 2">
            <a:extLst>
              <a:ext uri="{FF2B5EF4-FFF2-40B4-BE49-F238E27FC236}">
                <a16:creationId xmlns:a16="http://schemas.microsoft.com/office/drawing/2014/main" id="{FFFE7C81-58D9-4D70-9959-B25CF4CFC594}"/>
              </a:ext>
            </a:extLst>
          </p:cNvPr>
          <p:cNvSpPr>
            <a:spLocks noGrp="1"/>
          </p:cNvSpPr>
          <p:nvPr>
            <p:ph idx="1"/>
          </p:nvPr>
        </p:nvSpPr>
        <p:spPr/>
        <p:txBody>
          <a:bodyPr>
            <a:normAutofit/>
          </a:bodyPr>
          <a:lstStyle/>
          <a:p>
            <a:r>
              <a:rPr lang="en-US" dirty="0"/>
              <a:t>The contest aims at the detection of parasite eggs in microscopic images. It is a </a:t>
            </a:r>
            <a:r>
              <a:rPr lang="en-US" b="1" dirty="0"/>
              <a:t>binary classification problem</a:t>
            </a:r>
            <a:r>
              <a:rPr lang="en-US" dirty="0"/>
              <a:t>, since the model must predict one of the following classes:</a:t>
            </a:r>
          </a:p>
          <a:p>
            <a:pPr lvl="1"/>
            <a:r>
              <a:rPr lang="en-US" b="1" dirty="0" err="1"/>
              <a:t>uovo</a:t>
            </a:r>
            <a:r>
              <a:rPr lang="en-US" dirty="0"/>
              <a:t> (egg): meaning that the image contains a parasite egg;</a:t>
            </a:r>
          </a:p>
          <a:p>
            <a:pPr lvl="1"/>
            <a:r>
              <a:rPr lang="en-US" b="1" dirty="0"/>
              <a:t>empty</a:t>
            </a:r>
            <a:r>
              <a:rPr lang="en-US" dirty="0"/>
              <a:t>, meaning that the image does not contain any egg.</a:t>
            </a:r>
          </a:p>
          <a:p>
            <a:r>
              <a:rPr lang="en-US" dirty="0"/>
              <a:t>The prediction model must be able to correctly predict the presence of an egg for each image in the test set. The performance measure to maximize is the accuracy of the model.</a:t>
            </a:r>
          </a:p>
          <a:p>
            <a:r>
              <a:rPr lang="en-US" dirty="0"/>
              <a:t>A full explanation of the problem can be found </a:t>
            </a:r>
            <a:r>
              <a:rPr lang="en-US" dirty="0">
                <a:hlinkClick r:id="rId2"/>
              </a:rPr>
              <a:t>here</a:t>
            </a:r>
            <a:r>
              <a:rPr lang="en-US" dirty="0"/>
              <a:t>.</a:t>
            </a:r>
            <a:endParaRPr lang="it-IT" dirty="0"/>
          </a:p>
        </p:txBody>
      </p:sp>
    </p:spTree>
    <p:extLst>
      <p:ext uri="{BB962C8B-B14F-4D97-AF65-F5344CB8AC3E}">
        <p14:creationId xmlns:p14="http://schemas.microsoft.com/office/powerpoint/2010/main" val="10699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6582886-877C-4AEC-A77F-8055EB9A0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9" name="Freeform 14">
              <a:extLst>
                <a:ext uri="{FF2B5EF4-FFF2-40B4-BE49-F238E27FC236}">
                  <a16:creationId xmlns:a16="http://schemas.microsoft.com/office/drawing/2014/main" id="{171A838D-27EA-485C-9A80-DCE624AB3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0" name="Straight Connector 9">
              <a:extLst>
                <a:ext uri="{FF2B5EF4-FFF2-40B4-BE49-F238E27FC236}">
                  <a16:creationId xmlns:a16="http://schemas.microsoft.com/office/drawing/2014/main" id="{9059F313-A1BB-425E-9626-2BD43CAC64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9ABF76A-A1AE-44BB-9ECB-D55D2FE29B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5B6D2EC4-82D3-43B8-82D6-028CB4345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520034CE-71F9-4E0F-94D8-99335CB85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926C6C0-16F7-4CDC-B481-2D19B2F3B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042CE423-CE6E-4EE9-91F2-3E40EFB40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699BB4BD-31D7-434C-A6DB-E2CF3ACF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23D406B8-656A-4D8B-91D0-BF4202C86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83F4BFB6-D6B8-446C-8E17-3D54DCA9F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lumMod val="75000"/>
              <a:alpha val="88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26" name="Straight Connector 2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egnaposto testo 2">
            <a:extLst>
              <a:ext uri="{FF2B5EF4-FFF2-40B4-BE49-F238E27FC236}">
                <a16:creationId xmlns:a16="http://schemas.microsoft.com/office/drawing/2014/main" id="{0720D15E-47D6-4D6F-83C9-9BB002FA8EAB}"/>
              </a:ext>
            </a:extLst>
          </p:cNvPr>
          <p:cNvSpPr>
            <a:spLocks noGrp="1"/>
          </p:cNvSpPr>
          <p:nvPr>
            <p:ph type="body" idx="1"/>
          </p:nvPr>
        </p:nvSpPr>
        <p:spPr>
          <a:xfrm>
            <a:off x="1507067" y="4050833"/>
            <a:ext cx="7766936" cy="1096899"/>
          </a:xfrm>
        </p:spPr>
        <p:txBody>
          <a:bodyPr vert="horz" lIns="91440" tIns="45720" rIns="91440" bIns="45720" rtlCol="0" anchor="t">
            <a:normAutofit/>
          </a:bodyPr>
          <a:lstStyle/>
          <a:p>
            <a:pPr algn="r"/>
            <a:r>
              <a:rPr lang="en-US" sz="1800" dirty="0"/>
              <a:t>Data understanding</a:t>
            </a:r>
          </a:p>
        </p:txBody>
      </p:sp>
      <p:sp>
        <p:nvSpPr>
          <p:cNvPr id="2" name="Titolo 1">
            <a:extLst>
              <a:ext uri="{FF2B5EF4-FFF2-40B4-BE49-F238E27FC236}">
                <a16:creationId xmlns:a16="http://schemas.microsoft.com/office/drawing/2014/main" id="{8C870FF0-01B0-4F01-A4E9-D9F474B0259D}"/>
              </a:ext>
            </a:extLst>
          </p:cNvPr>
          <p:cNvSpPr>
            <a:spLocks noGrp="1"/>
          </p:cNvSpPr>
          <p:nvPr>
            <p:ph type="title"/>
          </p:nvPr>
        </p:nvSpPr>
        <p:spPr>
          <a:xfrm>
            <a:off x="1507067" y="1397000"/>
            <a:ext cx="7766936" cy="2653836"/>
          </a:xfrm>
        </p:spPr>
        <p:txBody>
          <a:bodyPr vert="horz" lIns="91440" tIns="45720" rIns="91440" bIns="45720" rtlCol="0" anchor="b">
            <a:normAutofit/>
          </a:bodyPr>
          <a:lstStyle/>
          <a:p>
            <a:pPr algn="r"/>
            <a:r>
              <a:rPr lang="en-US" sz="4800" dirty="0"/>
              <a:t>Exploratory Data Analysis</a:t>
            </a:r>
          </a:p>
        </p:txBody>
      </p:sp>
      <p:sp>
        <p:nvSpPr>
          <p:cNvPr id="30"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333542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84A8A1-AF5D-48F2-90BC-602CC2B79E90}"/>
              </a:ext>
            </a:extLst>
          </p:cNvPr>
          <p:cNvSpPr>
            <a:spLocks noGrp="1"/>
          </p:cNvSpPr>
          <p:nvPr>
            <p:ph type="title"/>
          </p:nvPr>
        </p:nvSpPr>
        <p:spPr/>
        <p:txBody>
          <a:bodyPr anchor="ctr"/>
          <a:lstStyle/>
          <a:p>
            <a:r>
              <a:rPr lang="en-GB" dirty="0"/>
              <a:t>Exploratory Data Analysis </a:t>
            </a:r>
            <a:r>
              <a:rPr lang="it-IT" dirty="0"/>
              <a:t>(1/4)</a:t>
            </a:r>
          </a:p>
        </p:txBody>
      </p:sp>
      <p:sp>
        <p:nvSpPr>
          <p:cNvPr id="3" name="Segnaposto contenuto 2">
            <a:extLst>
              <a:ext uri="{FF2B5EF4-FFF2-40B4-BE49-F238E27FC236}">
                <a16:creationId xmlns:a16="http://schemas.microsoft.com/office/drawing/2014/main" id="{D59D9132-A585-4EF1-87EF-13155D0851B8}"/>
              </a:ext>
            </a:extLst>
          </p:cNvPr>
          <p:cNvSpPr>
            <a:spLocks noGrp="1"/>
          </p:cNvSpPr>
          <p:nvPr>
            <p:ph idx="1"/>
          </p:nvPr>
        </p:nvSpPr>
        <p:spPr/>
        <p:txBody>
          <a:bodyPr>
            <a:normAutofit/>
          </a:bodyPr>
          <a:lstStyle/>
          <a:p>
            <a:r>
              <a:rPr lang="en-US" dirty="0"/>
              <a:t>Extract some useful information from the path of the images. Each training image is characterized by the following attributes:</a:t>
            </a:r>
          </a:p>
          <a:p>
            <a:pPr lvl="1"/>
            <a:r>
              <a:rPr lang="en-US" b="1" dirty="0"/>
              <a:t>path</a:t>
            </a:r>
            <a:r>
              <a:rPr lang="en-US" dirty="0"/>
              <a:t>: path where the image file is located.</a:t>
            </a:r>
          </a:p>
          <a:p>
            <a:pPr lvl="1"/>
            <a:r>
              <a:rPr lang="en-US" b="1" dirty="0"/>
              <a:t>acquisition</a:t>
            </a:r>
            <a:r>
              <a:rPr lang="en-US" dirty="0"/>
              <a:t>: acquisition in which the image was collected.</a:t>
            </a:r>
          </a:p>
          <a:p>
            <a:pPr lvl="1"/>
            <a:r>
              <a:rPr lang="en-US" b="1" dirty="0"/>
              <a:t>name</a:t>
            </a:r>
            <a:r>
              <a:rPr lang="en-US" dirty="0"/>
              <a:t>: name of the image.</a:t>
            </a:r>
          </a:p>
          <a:p>
            <a:pPr lvl="1"/>
            <a:r>
              <a:rPr lang="en-US" b="1" dirty="0"/>
              <a:t>direction</a:t>
            </a:r>
            <a:r>
              <a:rPr lang="en-US" dirty="0"/>
              <a:t>: orientation of the image. The same image may be present in the dataset with different orientation. This was made to balanced the class of the data, since the egg images were less in number. A better explanation about direction can be found </a:t>
            </a:r>
            <a:r>
              <a:rPr lang="en-US" dirty="0">
                <a:hlinkClick r:id="rId2"/>
              </a:rPr>
              <a:t>here</a:t>
            </a:r>
            <a:r>
              <a:rPr lang="en-US" dirty="0"/>
              <a:t>.</a:t>
            </a:r>
          </a:p>
          <a:p>
            <a:pPr lvl="1"/>
            <a:r>
              <a:rPr lang="en-US" b="1" dirty="0"/>
              <a:t>label</a:t>
            </a:r>
            <a:r>
              <a:rPr lang="en-US" dirty="0"/>
              <a:t>: label of the image.</a:t>
            </a:r>
            <a:endParaRPr lang="it-IT" dirty="0"/>
          </a:p>
        </p:txBody>
      </p:sp>
    </p:spTree>
    <p:extLst>
      <p:ext uri="{BB962C8B-B14F-4D97-AF65-F5344CB8AC3E}">
        <p14:creationId xmlns:p14="http://schemas.microsoft.com/office/powerpoint/2010/main" val="727881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84A8A1-AF5D-48F2-90BC-602CC2B79E90}"/>
              </a:ext>
            </a:extLst>
          </p:cNvPr>
          <p:cNvSpPr>
            <a:spLocks noGrp="1"/>
          </p:cNvSpPr>
          <p:nvPr>
            <p:ph type="title"/>
          </p:nvPr>
        </p:nvSpPr>
        <p:spPr>
          <a:xfrm>
            <a:off x="677334" y="405413"/>
            <a:ext cx="8596668" cy="1320800"/>
          </a:xfrm>
        </p:spPr>
        <p:txBody>
          <a:bodyPr anchor="ctr"/>
          <a:lstStyle/>
          <a:p>
            <a:r>
              <a:rPr lang="it-IT" dirty="0" err="1"/>
              <a:t>Exploratory</a:t>
            </a:r>
            <a:r>
              <a:rPr lang="it-IT" dirty="0"/>
              <a:t> Data </a:t>
            </a:r>
            <a:r>
              <a:rPr lang="en-GB" dirty="0"/>
              <a:t>Analysis</a:t>
            </a:r>
            <a:r>
              <a:rPr lang="it-IT" dirty="0"/>
              <a:t> (2/4)</a:t>
            </a:r>
          </a:p>
        </p:txBody>
      </p:sp>
      <p:sp>
        <p:nvSpPr>
          <p:cNvPr id="3" name="Segnaposto contenuto 2">
            <a:extLst>
              <a:ext uri="{FF2B5EF4-FFF2-40B4-BE49-F238E27FC236}">
                <a16:creationId xmlns:a16="http://schemas.microsoft.com/office/drawing/2014/main" id="{D59D9132-A585-4EF1-87EF-13155D0851B8}"/>
              </a:ext>
            </a:extLst>
          </p:cNvPr>
          <p:cNvSpPr>
            <a:spLocks noGrp="1"/>
          </p:cNvSpPr>
          <p:nvPr>
            <p:ph idx="1"/>
          </p:nvPr>
        </p:nvSpPr>
        <p:spPr>
          <a:xfrm>
            <a:off x="677334" y="1820463"/>
            <a:ext cx="8596668" cy="3880773"/>
          </a:xfrm>
        </p:spPr>
        <p:txBody>
          <a:bodyPr>
            <a:normAutofit/>
          </a:bodyPr>
          <a:lstStyle/>
          <a:p>
            <a:r>
              <a:rPr lang="en-US" sz="1600" dirty="0"/>
              <a:t>To simplify the data analysis stage, build a </a:t>
            </a:r>
            <a:r>
              <a:rPr lang="en-US" sz="1600" i="1" dirty="0" err="1"/>
              <a:t>dataframe</a:t>
            </a:r>
            <a:r>
              <a:rPr lang="en-US" sz="1600" dirty="0"/>
              <a:t> containing the information extracted:</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r>
              <a:rPr lang="en-US" sz="1600" dirty="0"/>
              <a:t>Compute some basic descriptive statistics about data:</a:t>
            </a:r>
            <a:endParaRPr lang="it-IT" sz="1600" dirty="0"/>
          </a:p>
          <a:p>
            <a:endParaRPr lang="it-IT" dirty="0"/>
          </a:p>
        </p:txBody>
      </p:sp>
      <p:pic>
        <p:nvPicPr>
          <p:cNvPr id="5" name="Immagine 4">
            <a:extLst>
              <a:ext uri="{FF2B5EF4-FFF2-40B4-BE49-F238E27FC236}">
                <a16:creationId xmlns:a16="http://schemas.microsoft.com/office/drawing/2014/main" id="{E4DA675A-2BA9-4A70-A2DD-C6F1FA8CF607}"/>
              </a:ext>
            </a:extLst>
          </p:cNvPr>
          <p:cNvPicPr>
            <a:picLocks noChangeAspect="1"/>
          </p:cNvPicPr>
          <p:nvPr/>
        </p:nvPicPr>
        <p:blipFill>
          <a:blip r:embed="rId2"/>
          <a:stretch>
            <a:fillRect/>
          </a:stretch>
        </p:blipFill>
        <p:spPr>
          <a:xfrm>
            <a:off x="1575721" y="2429708"/>
            <a:ext cx="6055011" cy="1643664"/>
          </a:xfrm>
          <a:prstGeom prst="rect">
            <a:avLst/>
          </a:prstGeom>
        </p:spPr>
      </p:pic>
      <p:pic>
        <p:nvPicPr>
          <p:cNvPr id="6" name="Immagine 5">
            <a:extLst>
              <a:ext uri="{FF2B5EF4-FFF2-40B4-BE49-F238E27FC236}">
                <a16:creationId xmlns:a16="http://schemas.microsoft.com/office/drawing/2014/main" id="{DF106199-0599-4764-BBC9-1E6E3E224429}"/>
              </a:ext>
            </a:extLst>
          </p:cNvPr>
          <p:cNvPicPr>
            <a:picLocks noChangeAspect="1"/>
          </p:cNvPicPr>
          <p:nvPr/>
        </p:nvPicPr>
        <p:blipFill>
          <a:blip r:embed="rId3"/>
          <a:stretch>
            <a:fillRect/>
          </a:stretch>
        </p:blipFill>
        <p:spPr>
          <a:xfrm>
            <a:off x="1358592" y="4752756"/>
            <a:ext cx="6489267" cy="1326969"/>
          </a:xfrm>
          <a:prstGeom prst="rect">
            <a:avLst/>
          </a:prstGeom>
        </p:spPr>
      </p:pic>
    </p:spTree>
    <p:extLst>
      <p:ext uri="{BB962C8B-B14F-4D97-AF65-F5344CB8AC3E}">
        <p14:creationId xmlns:p14="http://schemas.microsoft.com/office/powerpoint/2010/main" val="186273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1DDA1BAE-70E2-4155-9A00-07B790D80E51}"/>
              </a:ext>
            </a:extLst>
          </p:cNvPr>
          <p:cNvPicPr>
            <a:picLocks noChangeAspect="1"/>
          </p:cNvPicPr>
          <p:nvPr/>
        </p:nvPicPr>
        <p:blipFill>
          <a:blip r:embed="rId2"/>
          <a:stretch>
            <a:fillRect/>
          </a:stretch>
        </p:blipFill>
        <p:spPr>
          <a:xfrm>
            <a:off x="677335" y="1386189"/>
            <a:ext cx="3459660" cy="1937409"/>
          </a:xfrm>
          <a:prstGeom prst="rect">
            <a:avLst/>
          </a:prstGeom>
        </p:spPr>
      </p:pic>
      <p:pic>
        <p:nvPicPr>
          <p:cNvPr id="11" name="Immagine 10">
            <a:extLst>
              <a:ext uri="{FF2B5EF4-FFF2-40B4-BE49-F238E27FC236}">
                <a16:creationId xmlns:a16="http://schemas.microsoft.com/office/drawing/2014/main" id="{67245DAD-CD75-444F-98DD-244E4EF0C553}"/>
              </a:ext>
            </a:extLst>
          </p:cNvPr>
          <p:cNvPicPr>
            <a:picLocks noChangeAspect="1"/>
          </p:cNvPicPr>
          <p:nvPr/>
        </p:nvPicPr>
        <p:blipFill>
          <a:blip r:embed="rId3"/>
          <a:stretch>
            <a:fillRect/>
          </a:stretch>
        </p:blipFill>
        <p:spPr>
          <a:xfrm>
            <a:off x="5329864" y="1382943"/>
            <a:ext cx="3142762" cy="1940655"/>
          </a:xfrm>
          <a:prstGeom prst="rect">
            <a:avLst/>
          </a:prstGeom>
        </p:spPr>
      </p:pic>
      <p:sp>
        <p:nvSpPr>
          <p:cNvPr id="27" name="Titolo 1">
            <a:extLst>
              <a:ext uri="{FF2B5EF4-FFF2-40B4-BE49-F238E27FC236}">
                <a16:creationId xmlns:a16="http://schemas.microsoft.com/office/drawing/2014/main" id="{C0C424E9-4390-44A4-9E5D-265404C64710}"/>
              </a:ext>
            </a:extLst>
          </p:cNvPr>
          <p:cNvSpPr>
            <a:spLocks noGrp="1"/>
          </p:cNvSpPr>
          <p:nvPr>
            <p:ph type="title"/>
          </p:nvPr>
        </p:nvSpPr>
        <p:spPr>
          <a:xfrm>
            <a:off x="677336" y="0"/>
            <a:ext cx="8596668" cy="1320800"/>
          </a:xfrm>
        </p:spPr>
        <p:txBody>
          <a:bodyPr anchor="ctr"/>
          <a:lstStyle/>
          <a:p>
            <a:r>
              <a:rPr lang="it-IT" dirty="0" err="1"/>
              <a:t>Exploratory</a:t>
            </a:r>
            <a:r>
              <a:rPr lang="it-IT" dirty="0"/>
              <a:t> Data Analysis (3/4)</a:t>
            </a:r>
          </a:p>
        </p:txBody>
      </p:sp>
      <p:sp>
        <p:nvSpPr>
          <p:cNvPr id="21" name="Segnaposto contenuto 20">
            <a:extLst>
              <a:ext uri="{FF2B5EF4-FFF2-40B4-BE49-F238E27FC236}">
                <a16:creationId xmlns:a16="http://schemas.microsoft.com/office/drawing/2014/main" id="{BC61180C-E5B6-45EC-A78A-EAB2EF5E17FB}"/>
              </a:ext>
            </a:extLst>
          </p:cNvPr>
          <p:cNvSpPr>
            <a:spLocks noGrp="1"/>
          </p:cNvSpPr>
          <p:nvPr>
            <p:ph sz="half" idx="2"/>
          </p:nvPr>
        </p:nvSpPr>
        <p:spPr>
          <a:xfrm>
            <a:off x="5171414" y="3318075"/>
            <a:ext cx="3459661" cy="641580"/>
          </a:xfrm>
        </p:spPr>
        <p:txBody>
          <a:bodyPr>
            <a:normAutofit/>
          </a:bodyPr>
          <a:lstStyle/>
          <a:p>
            <a:pPr marL="0" indent="0" algn="ctr">
              <a:buNone/>
            </a:pPr>
            <a:r>
              <a:rPr lang="en-US" sz="1400" dirty="0"/>
              <a:t>Thanks to multiple directions, training set is balanced in term of class.</a:t>
            </a:r>
          </a:p>
          <a:p>
            <a:pPr marL="0" indent="0">
              <a:buNone/>
            </a:pPr>
            <a:endParaRPr lang="it-IT" sz="1600" dirty="0"/>
          </a:p>
        </p:txBody>
      </p:sp>
      <p:pic>
        <p:nvPicPr>
          <p:cNvPr id="13" name="Immagine 12">
            <a:extLst>
              <a:ext uri="{FF2B5EF4-FFF2-40B4-BE49-F238E27FC236}">
                <a16:creationId xmlns:a16="http://schemas.microsoft.com/office/drawing/2014/main" id="{8CF020EE-B9F7-42BB-A6C5-75BBC56EA740}"/>
              </a:ext>
            </a:extLst>
          </p:cNvPr>
          <p:cNvPicPr>
            <a:picLocks noChangeAspect="1"/>
          </p:cNvPicPr>
          <p:nvPr/>
        </p:nvPicPr>
        <p:blipFill>
          <a:blip r:embed="rId4"/>
          <a:stretch>
            <a:fillRect/>
          </a:stretch>
        </p:blipFill>
        <p:spPr>
          <a:xfrm>
            <a:off x="3223661" y="4036214"/>
            <a:ext cx="3168416" cy="1940655"/>
          </a:xfrm>
          <a:prstGeom prst="rect">
            <a:avLst/>
          </a:prstGeom>
        </p:spPr>
      </p:pic>
      <p:sp>
        <p:nvSpPr>
          <p:cNvPr id="29" name="Segnaposto contenuto 20">
            <a:extLst>
              <a:ext uri="{FF2B5EF4-FFF2-40B4-BE49-F238E27FC236}">
                <a16:creationId xmlns:a16="http://schemas.microsoft.com/office/drawing/2014/main" id="{2719F859-33CB-4D9C-ABA2-2551C7DC8B70}"/>
              </a:ext>
            </a:extLst>
          </p:cNvPr>
          <p:cNvSpPr txBox="1">
            <a:spLocks/>
          </p:cNvSpPr>
          <p:nvPr/>
        </p:nvSpPr>
        <p:spPr>
          <a:xfrm>
            <a:off x="2734970" y="5976869"/>
            <a:ext cx="4481400" cy="6415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dirty="0"/>
              <a:t>For each egg image there are all the five directions</a:t>
            </a:r>
          </a:p>
          <a:p>
            <a:pPr marL="0" indent="0">
              <a:buFont typeface="Wingdings 3" charset="2"/>
              <a:buNone/>
            </a:pPr>
            <a:endParaRPr lang="it-IT" sz="1600" dirty="0"/>
          </a:p>
        </p:txBody>
      </p:sp>
      <p:sp>
        <p:nvSpPr>
          <p:cNvPr id="35" name="Segnaposto contenuto 2">
            <a:extLst>
              <a:ext uri="{FF2B5EF4-FFF2-40B4-BE49-F238E27FC236}">
                <a16:creationId xmlns:a16="http://schemas.microsoft.com/office/drawing/2014/main" id="{1D91B80B-CAF6-4FCC-AA31-8A02C164DCE4}"/>
              </a:ext>
            </a:extLst>
          </p:cNvPr>
          <p:cNvSpPr txBox="1">
            <a:spLocks/>
          </p:cNvSpPr>
          <p:nvPr/>
        </p:nvSpPr>
        <p:spPr>
          <a:xfrm>
            <a:off x="794555" y="3318075"/>
            <a:ext cx="3406597" cy="641580"/>
          </a:xfrm>
          <a:prstGeom prst="rect">
            <a:avLst/>
          </a:prstGeom>
        </p:spPr>
        <p:txBody>
          <a:bodyPr vert="horz" lIns="91440" tIns="45720" rIns="91440" bIns="45720" numCol="1" spcCol="18000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a:t>Different acquisitions have a different number of images.</a:t>
            </a:r>
            <a:endParaRPr lang="en-US" sz="1400" dirty="0"/>
          </a:p>
        </p:txBody>
      </p:sp>
    </p:spTree>
    <p:extLst>
      <p:ext uri="{BB962C8B-B14F-4D97-AF65-F5344CB8AC3E}">
        <p14:creationId xmlns:p14="http://schemas.microsoft.com/office/powerpoint/2010/main" val="1555353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1DDA1BAE-70E2-4155-9A00-07B790D80E51}"/>
              </a:ext>
            </a:extLst>
          </p:cNvPr>
          <p:cNvPicPr>
            <a:picLocks noChangeAspect="1"/>
          </p:cNvPicPr>
          <p:nvPr/>
        </p:nvPicPr>
        <p:blipFill>
          <a:blip r:embed="rId2"/>
          <a:srcRect/>
          <a:stretch/>
        </p:blipFill>
        <p:spPr>
          <a:xfrm>
            <a:off x="692402" y="1386189"/>
            <a:ext cx="3429526" cy="1937409"/>
          </a:xfrm>
          <a:prstGeom prst="rect">
            <a:avLst/>
          </a:prstGeom>
        </p:spPr>
      </p:pic>
      <p:pic>
        <p:nvPicPr>
          <p:cNvPr id="11" name="Immagine 10">
            <a:extLst>
              <a:ext uri="{FF2B5EF4-FFF2-40B4-BE49-F238E27FC236}">
                <a16:creationId xmlns:a16="http://schemas.microsoft.com/office/drawing/2014/main" id="{67245DAD-CD75-444F-98DD-244E4EF0C553}"/>
              </a:ext>
            </a:extLst>
          </p:cNvPr>
          <p:cNvPicPr>
            <a:picLocks noChangeAspect="1"/>
          </p:cNvPicPr>
          <p:nvPr/>
        </p:nvPicPr>
        <p:blipFill>
          <a:blip r:embed="rId3"/>
          <a:srcRect/>
          <a:stretch/>
        </p:blipFill>
        <p:spPr>
          <a:xfrm>
            <a:off x="5329864" y="1391042"/>
            <a:ext cx="3142762" cy="1924456"/>
          </a:xfrm>
          <a:prstGeom prst="rect">
            <a:avLst/>
          </a:prstGeom>
        </p:spPr>
      </p:pic>
      <p:sp>
        <p:nvSpPr>
          <p:cNvPr id="27" name="Titolo 1">
            <a:extLst>
              <a:ext uri="{FF2B5EF4-FFF2-40B4-BE49-F238E27FC236}">
                <a16:creationId xmlns:a16="http://schemas.microsoft.com/office/drawing/2014/main" id="{C0C424E9-4390-44A4-9E5D-265404C64710}"/>
              </a:ext>
            </a:extLst>
          </p:cNvPr>
          <p:cNvSpPr>
            <a:spLocks noGrp="1"/>
          </p:cNvSpPr>
          <p:nvPr>
            <p:ph type="title"/>
          </p:nvPr>
        </p:nvSpPr>
        <p:spPr>
          <a:xfrm>
            <a:off x="677336" y="0"/>
            <a:ext cx="8596668" cy="1320800"/>
          </a:xfrm>
        </p:spPr>
        <p:txBody>
          <a:bodyPr anchor="ctr"/>
          <a:lstStyle/>
          <a:p>
            <a:r>
              <a:rPr lang="it-IT" dirty="0" err="1"/>
              <a:t>Exploratory</a:t>
            </a:r>
            <a:r>
              <a:rPr lang="it-IT" dirty="0"/>
              <a:t> Data Analysis (4/4)</a:t>
            </a:r>
          </a:p>
        </p:txBody>
      </p:sp>
      <p:sp>
        <p:nvSpPr>
          <p:cNvPr id="3" name="Segnaposto contenuto 2">
            <a:extLst>
              <a:ext uri="{FF2B5EF4-FFF2-40B4-BE49-F238E27FC236}">
                <a16:creationId xmlns:a16="http://schemas.microsoft.com/office/drawing/2014/main" id="{D59D9132-A585-4EF1-87EF-13155D0851B8}"/>
              </a:ext>
            </a:extLst>
          </p:cNvPr>
          <p:cNvSpPr>
            <a:spLocks noGrp="1"/>
          </p:cNvSpPr>
          <p:nvPr>
            <p:ph sz="half" idx="1"/>
          </p:nvPr>
        </p:nvSpPr>
        <p:spPr>
          <a:xfrm>
            <a:off x="794555" y="3318075"/>
            <a:ext cx="3406597" cy="641580"/>
          </a:xfrm>
        </p:spPr>
        <p:txBody>
          <a:bodyPr numCol="1" spcCol="180000">
            <a:normAutofit/>
          </a:bodyPr>
          <a:lstStyle/>
          <a:p>
            <a:pPr marL="0" indent="0" algn="ctr">
              <a:buNone/>
            </a:pPr>
            <a:r>
              <a:rPr lang="en-US" sz="1400" dirty="0"/>
              <a:t>Class distribution for different acquisition</a:t>
            </a:r>
          </a:p>
        </p:txBody>
      </p:sp>
      <p:sp>
        <p:nvSpPr>
          <p:cNvPr id="21" name="Segnaposto contenuto 20">
            <a:extLst>
              <a:ext uri="{FF2B5EF4-FFF2-40B4-BE49-F238E27FC236}">
                <a16:creationId xmlns:a16="http://schemas.microsoft.com/office/drawing/2014/main" id="{BC61180C-E5B6-45EC-A78A-EAB2EF5E17FB}"/>
              </a:ext>
            </a:extLst>
          </p:cNvPr>
          <p:cNvSpPr>
            <a:spLocks noGrp="1"/>
          </p:cNvSpPr>
          <p:nvPr>
            <p:ph sz="half" idx="2"/>
          </p:nvPr>
        </p:nvSpPr>
        <p:spPr>
          <a:xfrm>
            <a:off x="5520742" y="3314411"/>
            <a:ext cx="2761006" cy="641580"/>
          </a:xfrm>
        </p:spPr>
        <p:txBody>
          <a:bodyPr>
            <a:normAutofit/>
          </a:bodyPr>
          <a:lstStyle/>
          <a:p>
            <a:pPr marL="0" indent="0" algn="ctr">
              <a:buNone/>
            </a:pPr>
            <a:r>
              <a:rPr lang="en-US" sz="1400" dirty="0"/>
              <a:t>Different directions are used only for egg images</a:t>
            </a:r>
            <a:endParaRPr lang="it-IT" sz="1600" dirty="0"/>
          </a:p>
        </p:txBody>
      </p:sp>
      <p:pic>
        <p:nvPicPr>
          <p:cNvPr id="13" name="Immagine 12">
            <a:extLst>
              <a:ext uri="{FF2B5EF4-FFF2-40B4-BE49-F238E27FC236}">
                <a16:creationId xmlns:a16="http://schemas.microsoft.com/office/drawing/2014/main" id="{8CF020EE-B9F7-42BB-A6C5-75BBC56EA740}"/>
              </a:ext>
            </a:extLst>
          </p:cNvPr>
          <p:cNvPicPr>
            <a:picLocks noChangeAspect="1"/>
          </p:cNvPicPr>
          <p:nvPr/>
        </p:nvPicPr>
        <p:blipFill>
          <a:blip r:embed="rId4"/>
          <a:srcRect/>
          <a:stretch/>
        </p:blipFill>
        <p:spPr>
          <a:xfrm>
            <a:off x="2983963" y="4054589"/>
            <a:ext cx="3406597" cy="1924455"/>
          </a:xfrm>
          <a:prstGeom prst="rect">
            <a:avLst/>
          </a:prstGeom>
        </p:spPr>
      </p:pic>
      <p:sp>
        <p:nvSpPr>
          <p:cNvPr id="29" name="Segnaposto contenuto 20">
            <a:extLst>
              <a:ext uri="{FF2B5EF4-FFF2-40B4-BE49-F238E27FC236}">
                <a16:creationId xmlns:a16="http://schemas.microsoft.com/office/drawing/2014/main" id="{2719F859-33CB-4D9C-ABA2-2551C7DC8B70}"/>
              </a:ext>
            </a:extLst>
          </p:cNvPr>
          <p:cNvSpPr txBox="1">
            <a:spLocks/>
          </p:cNvSpPr>
          <p:nvPr/>
        </p:nvSpPr>
        <p:spPr>
          <a:xfrm>
            <a:off x="2983963" y="5979044"/>
            <a:ext cx="3655590" cy="6415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400" dirty="0"/>
              <a:t>Different directions of the same image refer to the same acquisition.</a:t>
            </a:r>
            <a:endParaRPr lang="it-IT" sz="1600" dirty="0"/>
          </a:p>
        </p:txBody>
      </p:sp>
    </p:spTree>
    <p:extLst>
      <p:ext uri="{BB962C8B-B14F-4D97-AF65-F5344CB8AC3E}">
        <p14:creationId xmlns:p14="http://schemas.microsoft.com/office/powerpoint/2010/main" val="1908205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6582886-877C-4AEC-A77F-8055EB9A0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9" name="Freeform 14">
              <a:extLst>
                <a:ext uri="{FF2B5EF4-FFF2-40B4-BE49-F238E27FC236}">
                  <a16:creationId xmlns:a16="http://schemas.microsoft.com/office/drawing/2014/main" id="{171A838D-27EA-485C-9A80-DCE624AB3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0" name="Straight Connector 9">
              <a:extLst>
                <a:ext uri="{FF2B5EF4-FFF2-40B4-BE49-F238E27FC236}">
                  <a16:creationId xmlns:a16="http://schemas.microsoft.com/office/drawing/2014/main" id="{9059F313-A1BB-425E-9626-2BD43CAC64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9ABF76A-A1AE-44BB-9ECB-D55D2FE29B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5B6D2EC4-82D3-43B8-82D6-028CB4345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520034CE-71F9-4E0F-94D8-99335CB85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926C6C0-16F7-4CDC-B481-2D19B2F3B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042CE423-CE6E-4EE9-91F2-3E40EFB40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699BB4BD-31D7-434C-A6DB-E2CF3ACF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23D406B8-656A-4D8B-91D0-BF4202C86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83F4BFB6-D6B8-446C-8E17-3D54DCA9F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lumMod val="75000"/>
              <a:alpha val="88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26" name="Straight Connector 2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egnaposto testo 2">
            <a:extLst>
              <a:ext uri="{FF2B5EF4-FFF2-40B4-BE49-F238E27FC236}">
                <a16:creationId xmlns:a16="http://schemas.microsoft.com/office/drawing/2014/main" id="{0720D15E-47D6-4D6F-83C9-9BB002FA8EAB}"/>
              </a:ext>
            </a:extLst>
          </p:cNvPr>
          <p:cNvSpPr>
            <a:spLocks noGrp="1"/>
          </p:cNvSpPr>
          <p:nvPr>
            <p:ph type="body" idx="1"/>
          </p:nvPr>
        </p:nvSpPr>
        <p:spPr>
          <a:xfrm>
            <a:off x="1507067" y="4050833"/>
            <a:ext cx="7766936" cy="1096899"/>
          </a:xfrm>
        </p:spPr>
        <p:txBody>
          <a:bodyPr vert="horz" lIns="91440" tIns="45720" rIns="91440" bIns="45720" rtlCol="0" anchor="t">
            <a:normAutofit/>
          </a:bodyPr>
          <a:lstStyle/>
          <a:p>
            <a:pPr algn="r"/>
            <a:r>
              <a:rPr lang="en-US" sz="1800" dirty="0"/>
              <a:t>Preparing data for models</a:t>
            </a:r>
          </a:p>
        </p:txBody>
      </p:sp>
      <p:sp>
        <p:nvSpPr>
          <p:cNvPr id="2" name="Titolo 1">
            <a:extLst>
              <a:ext uri="{FF2B5EF4-FFF2-40B4-BE49-F238E27FC236}">
                <a16:creationId xmlns:a16="http://schemas.microsoft.com/office/drawing/2014/main" id="{8C870FF0-01B0-4F01-A4E9-D9F474B0259D}"/>
              </a:ext>
            </a:extLst>
          </p:cNvPr>
          <p:cNvSpPr>
            <a:spLocks noGrp="1"/>
          </p:cNvSpPr>
          <p:nvPr>
            <p:ph type="title"/>
          </p:nvPr>
        </p:nvSpPr>
        <p:spPr>
          <a:xfrm>
            <a:off x="1507067" y="1397000"/>
            <a:ext cx="7766936" cy="2653836"/>
          </a:xfrm>
        </p:spPr>
        <p:txBody>
          <a:bodyPr vert="horz" lIns="91440" tIns="45720" rIns="91440" bIns="45720" rtlCol="0" anchor="b">
            <a:normAutofit/>
          </a:bodyPr>
          <a:lstStyle/>
          <a:p>
            <a:pPr algn="r"/>
            <a:r>
              <a:rPr lang="en-US" sz="4800" dirty="0"/>
              <a:t>Data preparation</a:t>
            </a:r>
          </a:p>
        </p:txBody>
      </p:sp>
      <p:sp>
        <p:nvSpPr>
          <p:cNvPr id="30"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69942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A9C8AB-310C-4A48-AEE0-295DF52DF272}"/>
              </a:ext>
            </a:extLst>
          </p:cNvPr>
          <p:cNvSpPr>
            <a:spLocks noGrp="1"/>
          </p:cNvSpPr>
          <p:nvPr>
            <p:ph type="title"/>
          </p:nvPr>
        </p:nvSpPr>
        <p:spPr>
          <a:xfrm>
            <a:off x="677334" y="343270"/>
            <a:ext cx="8596668" cy="1320800"/>
          </a:xfrm>
        </p:spPr>
        <p:txBody>
          <a:bodyPr anchor="ctr"/>
          <a:lstStyle/>
          <a:p>
            <a:r>
              <a:rPr lang="it-IT" dirty="0"/>
              <a:t>Data </a:t>
            </a:r>
            <a:r>
              <a:rPr lang="it-IT" dirty="0" err="1"/>
              <a:t>preparation</a:t>
            </a:r>
            <a:r>
              <a:rPr lang="it-IT" dirty="0"/>
              <a:t> (1/3)</a:t>
            </a:r>
          </a:p>
        </p:txBody>
      </p:sp>
      <p:sp>
        <p:nvSpPr>
          <p:cNvPr id="3" name="Segnaposto contenuto 2">
            <a:extLst>
              <a:ext uri="{FF2B5EF4-FFF2-40B4-BE49-F238E27FC236}">
                <a16:creationId xmlns:a16="http://schemas.microsoft.com/office/drawing/2014/main" id="{FFFE7C81-58D9-4D70-9959-B25CF4CFC594}"/>
              </a:ext>
            </a:extLst>
          </p:cNvPr>
          <p:cNvSpPr>
            <a:spLocks noGrp="1"/>
          </p:cNvSpPr>
          <p:nvPr>
            <p:ph idx="1"/>
          </p:nvPr>
        </p:nvSpPr>
        <p:spPr>
          <a:xfrm>
            <a:off x="677334" y="1664070"/>
            <a:ext cx="8596668" cy="3880773"/>
          </a:xfrm>
        </p:spPr>
        <p:txBody>
          <a:bodyPr>
            <a:normAutofit/>
          </a:bodyPr>
          <a:lstStyle/>
          <a:p>
            <a:r>
              <a:rPr lang="en-US" dirty="0"/>
              <a:t>Apply a </a:t>
            </a:r>
            <a:r>
              <a:rPr lang="en-US" b="1" dirty="0"/>
              <a:t>stratification holdout </a:t>
            </a:r>
            <a:r>
              <a:rPr lang="en-US" dirty="0"/>
              <a:t>technique, dividing the training set in 3 different dataset: </a:t>
            </a:r>
            <a:r>
              <a:rPr lang="en-US" i="1" dirty="0"/>
              <a:t>training set </a:t>
            </a:r>
            <a:r>
              <a:rPr lang="en-US" dirty="0"/>
              <a:t>(60%), </a:t>
            </a:r>
            <a:r>
              <a:rPr lang="en-US" i="1" dirty="0"/>
              <a:t>validation set </a:t>
            </a:r>
            <a:r>
              <a:rPr lang="en-US" dirty="0"/>
              <a:t>(20%), </a:t>
            </a:r>
            <a:r>
              <a:rPr lang="en-US" i="1" dirty="0"/>
              <a:t>test set </a:t>
            </a:r>
            <a:r>
              <a:rPr lang="en-US" dirty="0"/>
              <a:t>(20%).</a:t>
            </a:r>
          </a:p>
          <a:p>
            <a:pPr lvl="1"/>
            <a:r>
              <a:rPr lang="en-US" dirty="0"/>
              <a:t>Stratification ensure that the class are balanced in all the subsets.</a:t>
            </a:r>
          </a:p>
          <a:p>
            <a:pPr lvl="1"/>
            <a:r>
              <a:rPr lang="en-US" dirty="0"/>
              <a:t>Moreover, the tree subset should be made up of different acquisitions to be as independent as possible.</a:t>
            </a:r>
          </a:p>
        </p:txBody>
      </p:sp>
      <p:pic>
        <p:nvPicPr>
          <p:cNvPr id="4" name="Immagine 3">
            <a:extLst>
              <a:ext uri="{FF2B5EF4-FFF2-40B4-BE49-F238E27FC236}">
                <a16:creationId xmlns:a16="http://schemas.microsoft.com/office/drawing/2014/main" id="{56D95D14-CA4D-452E-8F94-F9079F10D7C7}"/>
              </a:ext>
            </a:extLst>
          </p:cNvPr>
          <p:cNvPicPr>
            <a:picLocks noChangeAspect="1"/>
          </p:cNvPicPr>
          <p:nvPr/>
        </p:nvPicPr>
        <p:blipFill>
          <a:blip r:embed="rId2"/>
          <a:srcRect/>
          <a:stretch/>
        </p:blipFill>
        <p:spPr>
          <a:xfrm>
            <a:off x="1657350" y="3604456"/>
            <a:ext cx="4438650" cy="2507484"/>
          </a:xfrm>
          <a:prstGeom prst="rect">
            <a:avLst/>
          </a:prstGeom>
        </p:spPr>
      </p:pic>
      <p:sp>
        <p:nvSpPr>
          <p:cNvPr id="5" name="Parentesi graffa chiusa 4">
            <a:extLst>
              <a:ext uri="{FF2B5EF4-FFF2-40B4-BE49-F238E27FC236}">
                <a16:creationId xmlns:a16="http://schemas.microsoft.com/office/drawing/2014/main" id="{78675FFC-F3F0-492E-961F-7A9F7F4ECBA4}"/>
              </a:ext>
            </a:extLst>
          </p:cNvPr>
          <p:cNvSpPr/>
          <p:nvPr/>
        </p:nvSpPr>
        <p:spPr>
          <a:xfrm>
            <a:off x="5955684" y="5252235"/>
            <a:ext cx="213360" cy="5852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10" name="Parentesi graffa chiusa 9">
            <a:extLst>
              <a:ext uri="{FF2B5EF4-FFF2-40B4-BE49-F238E27FC236}">
                <a16:creationId xmlns:a16="http://schemas.microsoft.com/office/drawing/2014/main" id="{D9B70700-F665-4E15-8EE4-65D2BE85FB42}"/>
              </a:ext>
            </a:extLst>
          </p:cNvPr>
          <p:cNvSpPr/>
          <p:nvPr/>
        </p:nvSpPr>
        <p:spPr>
          <a:xfrm>
            <a:off x="4712154" y="4282744"/>
            <a:ext cx="213360" cy="2921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12" name="Parentesi graffa chiusa 11">
            <a:extLst>
              <a:ext uri="{FF2B5EF4-FFF2-40B4-BE49-F238E27FC236}">
                <a16:creationId xmlns:a16="http://schemas.microsoft.com/office/drawing/2014/main" id="{CDF63D02-E533-4590-921F-7CA3D2D62461}"/>
              </a:ext>
            </a:extLst>
          </p:cNvPr>
          <p:cNvSpPr/>
          <p:nvPr/>
        </p:nvSpPr>
        <p:spPr>
          <a:xfrm>
            <a:off x="4355538" y="4624347"/>
            <a:ext cx="213360" cy="292131"/>
          </a:xfrm>
          <a:prstGeom prst="rightBrace">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lang="it-IT"/>
          </a:p>
        </p:txBody>
      </p:sp>
      <p:sp>
        <p:nvSpPr>
          <p:cNvPr id="16" name="Parentesi graffa chiusa 15">
            <a:extLst>
              <a:ext uri="{FF2B5EF4-FFF2-40B4-BE49-F238E27FC236}">
                <a16:creationId xmlns:a16="http://schemas.microsoft.com/office/drawing/2014/main" id="{A5D09D6D-FEFE-4E09-9F2C-42449CC02236}"/>
              </a:ext>
            </a:extLst>
          </p:cNvPr>
          <p:cNvSpPr/>
          <p:nvPr/>
        </p:nvSpPr>
        <p:spPr>
          <a:xfrm>
            <a:off x="4605474" y="4925985"/>
            <a:ext cx="213360" cy="292131"/>
          </a:xfrm>
          <a:prstGeom prst="rightBrace">
            <a:avLst/>
          </a:pr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it-IT"/>
          </a:p>
        </p:txBody>
      </p:sp>
      <p:sp>
        <p:nvSpPr>
          <p:cNvPr id="6" name="CasellaDiTesto 5">
            <a:extLst>
              <a:ext uri="{FF2B5EF4-FFF2-40B4-BE49-F238E27FC236}">
                <a16:creationId xmlns:a16="http://schemas.microsoft.com/office/drawing/2014/main" id="{803B4385-96FD-4B18-98DC-7EAFC65C29E4}"/>
              </a:ext>
            </a:extLst>
          </p:cNvPr>
          <p:cNvSpPr txBox="1"/>
          <p:nvPr/>
        </p:nvSpPr>
        <p:spPr>
          <a:xfrm>
            <a:off x="6352038" y="4282744"/>
            <a:ext cx="1093470" cy="253916"/>
          </a:xfrm>
          <a:prstGeom prst="rect">
            <a:avLst/>
          </a:prstGeom>
          <a:noFill/>
        </p:spPr>
        <p:txBody>
          <a:bodyPr wrap="square" rtlCol="0">
            <a:spAutoFit/>
          </a:bodyPr>
          <a:lstStyle/>
          <a:p>
            <a:r>
              <a:rPr lang="it-IT" sz="1050" dirty="0" err="1">
                <a:solidFill>
                  <a:schemeClr val="accent3"/>
                </a:solidFill>
              </a:rPr>
              <a:t>Validation</a:t>
            </a:r>
            <a:r>
              <a:rPr lang="it-IT" sz="1050" dirty="0">
                <a:solidFill>
                  <a:schemeClr val="accent3"/>
                </a:solidFill>
              </a:rPr>
              <a:t> set</a:t>
            </a:r>
          </a:p>
        </p:txBody>
      </p:sp>
      <p:cxnSp>
        <p:nvCxnSpPr>
          <p:cNvPr id="8" name="Connettore diritto 7">
            <a:extLst>
              <a:ext uri="{FF2B5EF4-FFF2-40B4-BE49-F238E27FC236}">
                <a16:creationId xmlns:a16="http://schemas.microsoft.com/office/drawing/2014/main" id="{3525E1D7-9155-4779-A9D9-132EE3448ABB}"/>
              </a:ext>
            </a:extLst>
          </p:cNvPr>
          <p:cNvCxnSpPr>
            <a:cxnSpLocks/>
            <a:stCxn id="40" idx="1"/>
            <a:endCxn id="6" idx="1"/>
          </p:cNvCxnSpPr>
          <p:nvPr/>
        </p:nvCxnSpPr>
        <p:spPr>
          <a:xfrm>
            <a:off x="4111374" y="4035970"/>
            <a:ext cx="2240664" cy="373732"/>
          </a:xfrm>
          <a:prstGeom prst="line">
            <a:avLst/>
          </a:prstGeom>
        </p:spPr>
        <p:style>
          <a:lnRef idx="1">
            <a:schemeClr val="accent3"/>
          </a:lnRef>
          <a:fillRef idx="0">
            <a:schemeClr val="accent3"/>
          </a:fillRef>
          <a:effectRef idx="0">
            <a:schemeClr val="accent3"/>
          </a:effectRef>
          <a:fontRef idx="minor">
            <a:schemeClr val="tx1"/>
          </a:fontRef>
        </p:style>
      </p:cxnSp>
      <p:cxnSp>
        <p:nvCxnSpPr>
          <p:cNvPr id="18" name="Connettore diritto 17">
            <a:extLst>
              <a:ext uri="{FF2B5EF4-FFF2-40B4-BE49-F238E27FC236}">
                <a16:creationId xmlns:a16="http://schemas.microsoft.com/office/drawing/2014/main" id="{C5DC32CF-4F54-4F8D-B82D-99A12D1A8D8C}"/>
              </a:ext>
            </a:extLst>
          </p:cNvPr>
          <p:cNvCxnSpPr>
            <a:stCxn id="16" idx="1"/>
            <a:endCxn id="6" idx="1"/>
          </p:cNvCxnSpPr>
          <p:nvPr/>
        </p:nvCxnSpPr>
        <p:spPr>
          <a:xfrm flipV="1">
            <a:off x="4818834" y="4409702"/>
            <a:ext cx="1533204" cy="662349"/>
          </a:xfrm>
          <a:prstGeom prst="line">
            <a:avLst/>
          </a:prstGeom>
        </p:spPr>
        <p:style>
          <a:lnRef idx="1">
            <a:schemeClr val="accent3"/>
          </a:lnRef>
          <a:fillRef idx="0">
            <a:schemeClr val="accent3"/>
          </a:fillRef>
          <a:effectRef idx="0">
            <a:schemeClr val="accent3"/>
          </a:effectRef>
          <a:fontRef idx="minor">
            <a:schemeClr val="tx1"/>
          </a:fontRef>
        </p:style>
      </p:cxnSp>
      <p:sp>
        <p:nvSpPr>
          <p:cNvPr id="23" name="CasellaDiTesto 22">
            <a:extLst>
              <a:ext uri="{FF2B5EF4-FFF2-40B4-BE49-F238E27FC236}">
                <a16:creationId xmlns:a16="http://schemas.microsoft.com/office/drawing/2014/main" id="{6BDEAFD9-2425-4D41-A842-D2CDDA6DE9F4}"/>
              </a:ext>
            </a:extLst>
          </p:cNvPr>
          <p:cNvSpPr txBox="1"/>
          <p:nvPr/>
        </p:nvSpPr>
        <p:spPr>
          <a:xfrm>
            <a:off x="6345936" y="4646159"/>
            <a:ext cx="1093470" cy="253916"/>
          </a:xfrm>
          <a:prstGeom prst="rect">
            <a:avLst/>
          </a:prstGeom>
          <a:noFill/>
        </p:spPr>
        <p:txBody>
          <a:bodyPr wrap="square" rtlCol="0">
            <a:spAutoFit/>
          </a:bodyPr>
          <a:lstStyle/>
          <a:p>
            <a:r>
              <a:rPr lang="it-IT" sz="1050" dirty="0">
                <a:solidFill>
                  <a:schemeClr val="accent4"/>
                </a:solidFill>
              </a:rPr>
              <a:t>Test set</a:t>
            </a:r>
          </a:p>
        </p:txBody>
      </p:sp>
      <p:sp>
        <p:nvSpPr>
          <p:cNvPr id="25" name="CasellaDiTesto 24">
            <a:extLst>
              <a:ext uri="{FF2B5EF4-FFF2-40B4-BE49-F238E27FC236}">
                <a16:creationId xmlns:a16="http://schemas.microsoft.com/office/drawing/2014/main" id="{D9B26797-BCB0-4146-9687-02E460DA49A3}"/>
              </a:ext>
            </a:extLst>
          </p:cNvPr>
          <p:cNvSpPr txBox="1"/>
          <p:nvPr/>
        </p:nvSpPr>
        <p:spPr>
          <a:xfrm>
            <a:off x="6345936" y="5056665"/>
            <a:ext cx="1093470" cy="253916"/>
          </a:xfrm>
          <a:prstGeom prst="rect">
            <a:avLst/>
          </a:prstGeom>
          <a:noFill/>
        </p:spPr>
        <p:txBody>
          <a:bodyPr wrap="square" rtlCol="0">
            <a:spAutoFit/>
          </a:bodyPr>
          <a:lstStyle/>
          <a:p>
            <a:r>
              <a:rPr lang="it-IT" sz="1050" dirty="0">
                <a:solidFill>
                  <a:schemeClr val="accent1"/>
                </a:solidFill>
              </a:rPr>
              <a:t>Training set</a:t>
            </a:r>
          </a:p>
        </p:txBody>
      </p:sp>
      <p:cxnSp>
        <p:nvCxnSpPr>
          <p:cNvPr id="29" name="Connettore diritto 28">
            <a:extLst>
              <a:ext uri="{FF2B5EF4-FFF2-40B4-BE49-F238E27FC236}">
                <a16:creationId xmlns:a16="http://schemas.microsoft.com/office/drawing/2014/main" id="{B7ADE5F0-C1C2-45B0-ACB9-4B7DA596E083}"/>
              </a:ext>
            </a:extLst>
          </p:cNvPr>
          <p:cNvCxnSpPr>
            <a:stCxn id="25" idx="1"/>
            <a:endCxn id="5" idx="1"/>
          </p:cNvCxnSpPr>
          <p:nvPr/>
        </p:nvCxnSpPr>
        <p:spPr>
          <a:xfrm flipH="1">
            <a:off x="6169044" y="5183623"/>
            <a:ext cx="176892" cy="3612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nettore diritto 30">
            <a:extLst>
              <a:ext uri="{FF2B5EF4-FFF2-40B4-BE49-F238E27FC236}">
                <a16:creationId xmlns:a16="http://schemas.microsoft.com/office/drawing/2014/main" id="{5F9108AB-7172-46AE-881B-549274614F41}"/>
              </a:ext>
            </a:extLst>
          </p:cNvPr>
          <p:cNvCxnSpPr>
            <a:stCxn id="25" idx="1"/>
            <a:endCxn id="10" idx="1"/>
          </p:cNvCxnSpPr>
          <p:nvPr/>
        </p:nvCxnSpPr>
        <p:spPr>
          <a:xfrm flipH="1" flipV="1">
            <a:off x="4925514" y="4428810"/>
            <a:ext cx="1420422" cy="7548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nettore diritto 38">
            <a:extLst>
              <a:ext uri="{FF2B5EF4-FFF2-40B4-BE49-F238E27FC236}">
                <a16:creationId xmlns:a16="http://schemas.microsoft.com/office/drawing/2014/main" id="{63C01E54-7907-4FB2-8643-9511BCB2AFA3}"/>
              </a:ext>
            </a:extLst>
          </p:cNvPr>
          <p:cNvCxnSpPr>
            <a:stCxn id="12" idx="1"/>
            <a:endCxn id="23" idx="1"/>
          </p:cNvCxnSpPr>
          <p:nvPr/>
        </p:nvCxnSpPr>
        <p:spPr>
          <a:xfrm>
            <a:off x="4568898" y="4770413"/>
            <a:ext cx="1777038" cy="2704"/>
          </a:xfrm>
          <a:prstGeom prst="line">
            <a:avLst/>
          </a:prstGeom>
        </p:spPr>
        <p:style>
          <a:lnRef idx="1">
            <a:schemeClr val="accent4"/>
          </a:lnRef>
          <a:fillRef idx="0">
            <a:schemeClr val="accent4"/>
          </a:fillRef>
          <a:effectRef idx="0">
            <a:schemeClr val="accent4"/>
          </a:effectRef>
          <a:fontRef idx="minor">
            <a:schemeClr val="tx1"/>
          </a:fontRef>
        </p:style>
      </p:cxnSp>
      <p:sp>
        <p:nvSpPr>
          <p:cNvPr id="40" name="Parentesi graffa chiusa 39">
            <a:extLst>
              <a:ext uri="{FF2B5EF4-FFF2-40B4-BE49-F238E27FC236}">
                <a16:creationId xmlns:a16="http://schemas.microsoft.com/office/drawing/2014/main" id="{70931A2B-E0E1-4483-9BFB-B2028BFADEA3}"/>
              </a:ext>
            </a:extLst>
          </p:cNvPr>
          <p:cNvSpPr/>
          <p:nvPr/>
        </p:nvSpPr>
        <p:spPr>
          <a:xfrm>
            <a:off x="3898014" y="3743362"/>
            <a:ext cx="213360" cy="585216"/>
          </a:xfrm>
          <a:prstGeom prst="rightBrace">
            <a:avLst/>
          </a:pr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it-IT">
              <a:solidFill>
                <a:schemeClr val="accent1"/>
              </a:solidFill>
            </a:endParaRPr>
          </a:p>
        </p:txBody>
      </p:sp>
    </p:spTree>
    <p:extLst>
      <p:ext uri="{BB962C8B-B14F-4D97-AF65-F5344CB8AC3E}">
        <p14:creationId xmlns:p14="http://schemas.microsoft.com/office/powerpoint/2010/main" val="1592942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1DDA1BAE-70E2-4155-9A00-07B790D80E51}"/>
              </a:ext>
            </a:extLst>
          </p:cNvPr>
          <p:cNvPicPr>
            <a:picLocks noChangeAspect="1"/>
          </p:cNvPicPr>
          <p:nvPr/>
        </p:nvPicPr>
        <p:blipFill>
          <a:blip r:embed="rId2"/>
          <a:srcRect/>
          <a:stretch/>
        </p:blipFill>
        <p:spPr>
          <a:xfrm>
            <a:off x="935135" y="2236029"/>
            <a:ext cx="3171726" cy="1937409"/>
          </a:xfrm>
          <a:prstGeom prst="rect">
            <a:avLst/>
          </a:prstGeom>
        </p:spPr>
      </p:pic>
      <p:pic>
        <p:nvPicPr>
          <p:cNvPr id="11" name="Immagine 10">
            <a:extLst>
              <a:ext uri="{FF2B5EF4-FFF2-40B4-BE49-F238E27FC236}">
                <a16:creationId xmlns:a16="http://schemas.microsoft.com/office/drawing/2014/main" id="{67245DAD-CD75-444F-98DD-244E4EF0C553}"/>
              </a:ext>
            </a:extLst>
          </p:cNvPr>
          <p:cNvPicPr>
            <a:picLocks noChangeAspect="1"/>
          </p:cNvPicPr>
          <p:nvPr/>
        </p:nvPicPr>
        <p:blipFill>
          <a:blip r:embed="rId3"/>
          <a:srcRect/>
          <a:stretch/>
        </p:blipFill>
        <p:spPr>
          <a:xfrm>
            <a:off x="5010269" y="2260061"/>
            <a:ext cx="3142762" cy="1914999"/>
          </a:xfrm>
          <a:prstGeom prst="rect">
            <a:avLst/>
          </a:prstGeom>
        </p:spPr>
      </p:pic>
      <p:sp>
        <p:nvSpPr>
          <p:cNvPr id="27" name="Titolo 1">
            <a:extLst>
              <a:ext uri="{FF2B5EF4-FFF2-40B4-BE49-F238E27FC236}">
                <a16:creationId xmlns:a16="http://schemas.microsoft.com/office/drawing/2014/main" id="{C0C424E9-4390-44A4-9E5D-265404C64710}"/>
              </a:ext>
            </a:extLst>
          </p:cNvPr>
          <p:cNvSpPr>
            <a:spLocks noGrp="1"/>
          </p:cNvSpPr>
          <p:nvPr>
            <p:ph type="title"/>
          </p:nvPr>
        </p:nvSpPr>
        <p:spPr>
          <a:xfrm>
            <a:off x="677336" y="0"/>
            <a:ext cx="8596668" cy="1320800"/>
          </a:xfrm>
        </p:spPr>
        <p:txBody>
          <a:bodyPr anchor="ctr"/>
          <a:lstStyle/>
          <a:p>
            <a:r>
              <a:rPr lang="it-IT" dirty="0"/>
              <a:t>Data </a:t>
            </a:r>
            <a:r>
              <a:rPr lang="it-IT" dirty="0" err="1"/>
              <a:t>preparation</a:t>
            </a:r>
            <a:r>
              <a:rPr lang="it-IT" dirty="0"/>
              <a:t> (2/3)</a:t>
            </a:r>
          </a:p>
        </p:txBody>
      </p:sp>
      <p:sp>
        <p:nvSpPr>
          <p:cNvPr id="21" name="Segnaposto contenuto 20">
            <a:extLst>
              <a:ext uri="{FF2B5EF4-FFF2-40B4-BE49-F238E27FC236}">
                <a16:creationId xmlns:a16="http://schemas.microsoft.com/office/drawing/2014/main" id="{BC61180C-E5B6-45EC-A78A-EAB2EF5E17FB}"/>
              </a:ext>
            </a:extLst>
          </p:cNvPr>
          <p:cNvSpPr>
            <a:spLocks noGrp="1"/>
          </p:cNvSpPr>
          <p:nvPr>
            <p:ph sz="half" idx="2"/>
          </p:nvPr>
        </p:nvSpPr>
        <p:spPr>
          <a:xfrm>
            <a:off x="4851820" y="1843314"/>
            <a:ext cx="3459661" cy="405543"/>
          </a:xfrm>
        </p:spPr>
        <p:txBody>
          <a:bodyPr>
            <a:normAutofit/>
          </a:bodyPr>
          <a:lstStyle/>
          <a:p>
            <a:pPr marL="0" indent="0" algn="ctr">
              <a:buNone/>
            </a:pPr>
            <a:r>
              <a:rPr lang="en-US" sz="1600" dirty="0"/>
              <a:t>Validation set (~19%)</a:t>
            </a:r>
          </a:p>
          <a:p>
            <a:pPr marL="0" indent="0">
              <a:buNone/>
            </a:pPr>
            <a:endParaRPr lang="it-IT" dirty="0"/>
          </a:p>
        </p:txBody>
      </p:sp>
      <p:sp>
        <p:nvSpPr>
          <p:cNvPr id="35" name="Segnaposto contenuto 2">
            <a:extLst>
              <a:ext uri="{FF2B5EF4-FFF2-40B4-BE49-F238E27FC236}">
                <a16:creationId xmlns:a16="http://schemas.microsoft.com/office/drawing/2014/main" id="{1D91B80B-CAF6-4FCC-AA31-8A02C164DCE4}"/>
              </a:ext>
            </a:extLst>
          </p:cNvPr>
          <p:cNvSpPr txBox="1">
            <a:spLocks/>
          </p:cNvSpPr>
          <p:nvPr/>
        </p:nvSpPr>
        <p:spPr>
          <a:xfrm>
            <a:off x="908389" y="1840068"/>
            <a:ext cx="3406597" cy="408789"/>
          </a:xfrm>
          <a:prstGeom prst="rect">
            <a:avLst/>
          </a:prstGeom>
        </p:spPr>
        <p:txBody>
          <a:bodyPr vert="horz" lIns="91440" tIns="45720" rIns="91440" bIns="45720" numCol="1" spcCol="18000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600" dirty="0"/>
              <a:t>Training set (~63%)</a:t>
            </a:r>
          </a:p>
        </p:txBody>
      </p:sp>
      <p:pic>
        <p:nvPicPr>
          <p:cNvPr id="9" name="Immagine 8">
            <a:extLst>
              <a:ext uri="{FF2B5EF4-FFF2-40B4-BE49-F238E27FC236}">
                <a16:creationId xmlns:a16="http://schemas.microsoft.com/office/drawing/2014/main" id="{88093ECE-63A3-4DE1-976B-120F3C16CD68}"/>
              </a:ext>
            </a:extLst>
          </p:cNvPr>
          <p:cNvPicPr>
            <a:picLocks noChangeAspect="1"/>
          </p:cNvPicPr>
          <p:nvPr/>
        </p:nvPicPr>
        <p:blipFill>
          <a:blip r:embed="rId4"/>
          <a:srcRect/>
          <a:stretch/>
        </p:blipFill>
        <p:spPr>
          <a:xfrm>
            <a:off x="677336" y="4269027"/>
            <a:ext cx="3429525" cy="1937409"/>
          </a:xfrm>
          <a:prstGeom prst="rect">
            <a:avLst/>
          </a:prstGeom>
        </p:spPr>
      </p:pic>
      <p:pic>
        <p:nvPicPr>
          <p:cNvPr id="10" name="Immagine 9">
            <a:extLst>
              <a:ext uri="{FF2B5EF4-FFF2-40B4-BE49-F238E27FC236}">
                <a16:creationId xmlns:a16="http://schemas.microsoft.com/office/drawing/2014/main" id="{4303237E-080C-49BB-B1C1-71CCDE1D38B3}"/>
              </a:ext>
            </a:extLst>
          </p:cNvPr>
          <p:cNvPicPr>
            <a:picLocks noChangeAspect="1"/>
          </p:cNvPicPr>
          <p:nvPr/>
        </p:nvPicPr>
        <p:blipFill>
          <a:blip r:embed="rId5"/>
          <a:srcRect/>
          <a:stretch/>
        </p:blipFill>
        <p:spPr>
          <a:xfrm>
            <a:off x="4718218" y="4304266"/>
            <a:ext cx="3428465" cy="1914998"/>
          </a:xfrm>
          <a:prstGeom prst="rect">
            <a:avLst/>
          </a:prstGeom>
        </p:spPr>
      </p:pic>
      <p:sp>
        <p:nvSpPr>
          <p:cNvPr id="15" name="Segnaposto contenuto 2">
            <a:extLst>
              <a:ext uri="{FF2B5EF4-FFF2-40B4-BE49-F238E27FC236}">
                <a16:creationId xmlns:a16="http://schemas.microsoft.com/office/drawing/2014/main" id="{64898DA3-4C33-44F1-900A-5998C50E0561}"/>
              </a:ext>
            </a:extLst>
          </p:cNvPr>
          <p:cNvSpPr>
            <a:spLocks noGrp="1"/>
          </p:cNvSpPr>
          <p:nvPr>
            <p:ph idx="1"/>
          </p:nvPr>
        </p:nvSpPr>
        <p:spPr>
          <a:xfrm>
            <a:off x="677336" y="1275162"/>
            <a:ext cx="8596668" cy="440318"/>
          </a:xfrm>
        </p:spPr>
        <p:txBody>
          <a:bodyPr>
            <a:normAutofit/>
          </a:bodyPr>
          <a:lstStyle/>
          <a:p>
            <a:r>
              <a:rPr lang="en-US" dirty="0"/>
              <a:t>Datasets used for </a:t>
            </a:r>
            <a:r>
              <a:rPr lang="en-US" b="1" dirty="0"/>
              <a:t>hyperparameters tuning</a:t>
            </a:r>
            <a:r>
              <a:rPr lang="en-US" dirty="0"/>
              <a:t>:</a:t>
            </a:r>
          </a:p>
        </p:txBody>
      </p:sp>
    </p:spTree>
    <p:extLst>
      <p:ext uri="{BB962C8B-B14F-4D97-AF65-F5344CB8AC3E}">
        <p14:creationId xmlns:p14="http://schemas.microsoft.com/office/powerpoint/2010/main" val="3400149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Immagine 7">
            <a:extLst>
              <a:ext uri="{FF2B5EF4-FFF2-40B4-BE49-F238E27FC236}">
                <a16:creationId xmlns:a16="http://schemas.microsoft.com/office/drawing/2014/main" id="{1DDA1BAE-70E2-4155-9A00-07B790D80E51}"/>
              </a:ext>
            </a:extLst>
          </p:cNvPr>
          <p:cNvPicPr>
            <a:picLocks noChangeAspect="1"/>
          </p:cNvPicPr>
          <p:nvPr/>
        </p:nvPicPr>
        <p:blipFill>
          <a:blip r:embed="rId2"/>
          <a:srcRect/>
          <a:stretch/>
        </p:blipFill>
        <p:spPr>
          <a:xfrm>
            <a:off x="954665" y="2239275"/>
            <a:ext cx="3132665" cy="1937409"/>
          </a:xfrm>
          <a:prstGeom prst="rect">
            <a:avLst/>
          </a:prstGeom>
        </p:spPr>
      </p:pic>
      <p:pic>
        <p:nvPicPr>
          <p:cNvPr id="11" name="Immagine 10">
            <a:extLst>
              <a:ext uri="{FF2B5EF4-FFF2-40B4-BE49-F238E27FC236}">
                <a16:creationId xmlns:a16="http://schemas.microsoft.com/office/drawing/2014/main" id="{67245DAD-CD75-444F-98DD-244E4EF0C553}"/>
              </a:ext>
            </a:extLst>
          </p:cNvPr>
          <p:cNvPicPr>
            <a:picLocks noChangeAspect="1"/>
          </p:cNvPicPr>
          <p:nvPr/>
        </p:nvPicPr>
        <p:blipFill>
          <a:blip r:embed="rId3"/>
          <a:srcRect/>
          <a:stretch/>
        </p:blipFill>
        <p:spPr>
          <a:xfrm>
            <a:off x="5008243" y="2250478"/>
            <a:ext cx="3096429" cy="1914999"/>
          </a:xfrm>
          <a:prstGeom prst="rect">
            <a:avLst/>
          </a:prstGeom>
        </p:spPr>
      </p:pic>
      <p:sp>
        <p:nvSpPr>
          <p:cNvPr id="27" name="Titolo 1">
            <a:extLst>
              <a:ext uri="{FF2B5EF4-FFF2-40B4-BE49-F238E27FC236}">
                <a16:creationId xmlns:a16="http://schemas.microsoft.com/office/drawing/2014/main" id="{C0C424E9-4390-44A4-9E5D-265404C64710}"/>
              </a:ext>
            </a:extLst>
          </p:cNvPr>
          <p:cNvSpPr>
            <a:spLocks noGrp="1"/>
          </p:cNvSpPr>
          <p:nvPr>
            <p:ph type="title"/>
          </p:nvPr>
        </p:nvSpPr>
        <p:spPr>
          <a:xfrm>
            <a:off x="677336" y="0"/>
            <a:ext cx="8596668" cy="1320800"/>
          </a:xfrm>
        </p:spPr>
        <p:txBody>
          <a:bodyPr anchor="ctr"/>
          <a:lstStyle/>
          <a:p>
            <a:r>
              <a:rPr lang="it-IT" dirty="0"/>
              <a:t>Data </a:t>
            </a:r>
            <a:r>
              <a:rPr lang="it-IT" dirty="0" err="1"/>
              <a:t>preparation</a:t>
            </a:r>
            <a:r>
              <a:rPr lang="it-IT" dirty="0"/>
              <a:t> (3/3)</a:t>
            </a:r>
          </a:p>
        </p:txBody>
      </p:sp>
      <p:sp>
        <p:nvSpPr>
          <p:cNvPr id="21" name="Segnaposto contenuto 20">
            <a:extLst>
              <a:ext uri="{FF2B5EF4-FFF2-40B4-BE49-F238E27FC236}">
                <a16:creationId xmlns:a16="http://schemas.microsoft.com/office/drawing/2014/main" id="{BC61180C-E5B6-45EC-A78A-EAB2EF5E17FB}"/>
              </a:ext>
            </a:extLst>
          </p:cNvPr>
          <p:cNvSpPr>
            <a:spLocks noGrp="1"/>
          </p:cNvSpPr>
          <p:nvPr>
            <p:ph sz="half" idx="2"/>
          </p:nvPr>
        </p:nvSpPr>
        <p:spPr>
          <a:xfrm>
            <a:off x="4826628" y="1833731"/>
            <a:ext cx="3459661" cy="405543"/>
          </a:xfrm>
        </p:spPr>
        <p:txBody>
          <a:bodyPr>
            <a:normAutofit/>
          </a:bodyPr>
          <a:lstStyle/>
          <a:p>
            <a:pPr marL="0" indent="0" algn="ctr">
              <a:buNone/>
            </a:pPr>
            <a:r>
              <a:rPr lang="en-US" sz="1600" dirty="0"/>
              <a:t>Test set (~18%)</a:t>
            </a:r>
          </a:p>
          <a:p>
            <a:pPr marL="0" indent="0">
              <a:buNone/>
            </a:pPr>
            <a:endParaRPr lang="it-IT" dirty="0"/>
          </a:p>
        </p:txBody>
      </p:sp>
      <p:sp>
        <p:nvSpPr>
          <p:cNvPr id="35" name="Segnaposto contenuto 2">
            <a:extLst>
              <a:ext uri="{FF2B5EF4-FFF2-40B4-BE49-F238E27FC236}">
                <a16:creationId xmlns:a16="http://schemas.microsoft.com/office/drawing/2014/main" id="{1D91B80B-CAF6-4FCC-AA31-8A02C164DCE4}"/>
              </a:ext>
            </a:extLst>
          </p:cNvPr>
          <p:cNvSpPr txBox="1">
            <a:spLocks/>
          </p:cNvSpPr>
          <p:nvPr/>
        </p:nvSpPr>
        <p:spPr>
          <a:xfrm>
            <a:off x="908389" y="1843314"/>
            <a:ext cx="3406597" cy="408789"/>
          </a:xfrm>
          <a:prstGeom prst="rect">
            <a:avLst/>
          </a:prstGeom>
        </p:spPr>
        <p:txBody>
          <a:bodyPr vert="horz" lIns="91440" tIns="45720" rIns="91440" bIns="45720" numCol="1" spcCol="18000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en-US" sz="1600" dirty="0"/>
              <a:t>Training and validation set (~82%)</a:t>
            </a:r>
          </a:p>
        </p:txBody>
      </p:sp>
      <p:pic>
        <p:nvPicPr>
          <p:cNvPr id="9" name="Immagine 8">
            <a:extLst>
              <a:ext uri="{FF2B5EF4-FFF2-40B4-BE49-F238E27FC236}">
                <a16:creationId xmlns:a16="http://schemas.microsoft.com/office/drawing/2014/main" id="{88093ECE-63A3-4DE1-976B-120F3C16CD68}"/>
              </a:ext>
            </a:extLst>
          </p:cNvPr>
          <p:cNvPicPr>
            <a:picLocks noChangeAspect="1"/>
          </p:cNvPicPr>
          <p:nvPr/>
        </p:nvPicPr>
        <p:blipFill>
          <a:blip r:embed="rId4"/>
          <a:srcRect/>
          <a:stretch/>
        </p:blipFill>
        <p:spPr>
          <a:xfrm>
            <a:off x="677336" y="4272273"/>
            <a:ext cx="3429525" cy="1937408"/>
          </a:xfrm>
          <a:prstGeom prst="rect">
            <a:avLst/>
          </a:prstGeom>
        </p:spPr>
      </p:pic>
      <p:pic>
        <p:nvPicPr>
          <p:cNvPr id="10" name="Immagine 9">
            <a:extLst>
              <a:ext uri="{FF2B5EF4-FFF2-40B4-BE49-F238E27FC236}">
                <a16:creationId xmlns:a16="http://schemas.microsoft.com/office/drawing/2014/main" id="{4303237E-080C-49BB-B1C1-71CCDE1D38B3}"/>
              </a:ext>
            </a:extLst>
          </p:cNvPr>
          <p:cNvPicPr>
            <a:picLocks noChangeAspect="1"/>
          </p:cNvPicPr>
          <p:nvPr/>
        </p:nvPicPr>
        <p:blipFill>
          <a:blip r:embed="rId5"/>
          <a:srcRect/>
          <a:stretch/>
        </p:blipFill>
        <p:spPr>
          <a:xfrm>
            <a:off x="4712331" y="4294683"/>
            <a:ext cx="3389854" cy="1914998"/>
          </a:xfrm>
          <a:prstGeom prst="rect">
            <a:avLst/>
          </a:prstGeom>
        </p:spPr>
      </p:pic>
      <p:sp>
        <p:nvSpPr>
          <p:cNvPr id="15" name="Segnaposto contenuto 2">
            <a:extLst>
              <a:ext uri="{FF2B5EF4-FFF2-40B4-BE49-F238E27FC236}">
                <a16:creationId xmlns:a16="http://schemas.microsoft.com/office/drawing/2014/main" id="{64898DA3-4C33-44F1-900A-5998C50E0561}"/>
              </a:ext>
            </a:extLst>
          </p:cNvPr>
          <p:cNvSpPr>
            <a:spLocks noGrp="1"/>
          </p:cNvSpPr>
          <p:nvPr>
            <p:ph idx="1"/>
          </p:nvPr>
        </p:nvSpPr>
        <p:spPr>
          <a:xfrm>
            <a:off x="677336" y="1275162"/>
            <a:ext cx="8596668" cy="440318"/>
          </a:xfrm>
        </p:spPr>
        <p:txBody>
          <a:bodyPr>
            <a:normAutofit/>
          </a:bodyPr>
          <a:lstStyle/>
          <a:p>
            <a:r>
              <a:rPr lang="en-US" dirty="0"/>
              <a:t>Datasets used for </a:t>
            </a:r>
            <a:r>
              <a:rPr lang="en-US" b="1" dirty="0"/>
              <a:t>performance evaluation</a:t>
            </a:r>
            <a:r>
              <a:rPr lang="en-US" dirty="0"/>
              <a:t> and </a:t>
            </a:r>
            <a:r>
              <a:rPr lang="en-US" b="1" dirty="0"/>
              <a:t>model selection</a:t>
            </a:r>
            <a:r>
              <a:rPr lang="en-US" dirty="0"/>
              <a:t>:</a:t>
            </a:r>
          </a:p>
        </p:txBody>
      </p:sp>
    </p:spTree>
    <p:extLst>
      <p:ext uri="{BB962C8B-B14F-4D97-AF65-F5344CB8AC3E}">
        <p14:creationId xmlns:p14="http://schemas.microsoft.com/office/powerpoint/2010/main" val="2255769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6582886-877C-4AEC-A77F-8055EB9A0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9" name="Freeform 14">
              <a:extLst>
                <a:ext uri="{FF2B5EF4-FFF2-40B4-BE49-F238E27FC236}">
                  <a16:creationId xmlns:a16="http://schemas.microsoft.com/office/drawing/2014/main" id="{171A838D-27EA-485C-9A80-DCE624AB3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0" name="Straight Connector 9">
              <a:extLst>
                <a:ext uri="{FF2B5EF4-FFF2-40B4-BE49-F238E27FC236}">
                  <a16:creationId xmlns:a16="http://schemas.microsoft.com/office/drawing/2014/main" id="{9059F313-A1BB-425E-9626-2BD43CAC64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9ABF76A-A1AE-44BB-9ECB-D55D2FE29B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5B6D2EC4-82D3-43B8-82D6-028CB4345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520034CE-71F9-4E0F-94D8-99335CB85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926C6C0-16F7-4CDC-B481-2D19B2F3B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042CE423-CE6E-4EE9-91F2-3E40EFB40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699BB4BD-31D7-434C-A6DB-E2CF3ACF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23D406B8-656A-4D8B-91D0-BF4202C86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83F4BFB6-D6B8-446C-8E17-3D54DCA9F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lumMod val="75000"/>
              <a:alpha val="88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26" name="Straight Connector 2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egnaposto testo 2">
            <a:extLst>
              <a:ext uri="{FF2B5EF4-FFF2-40B4-BE49-F238E27FC236}">
                <a16:creationId xmlns:a16="http://schemas.microsoft.com/office/drawing/2014/main" id="{0720D15E-47D6-4D6F-83C9-9BB002FA8EAB}"/>
              </a:ext>
            </a:extLst>
          </p:cNvPr>
          <p:cNvSpPr>
            <a:spLocks noGrp="1"/>
          </p:cNvSpPr>
          <p:nvPr>
            <p:ph type="body" idx="1"/>
          </p:nvPr>
        </p:nvSpPr>
        <p:spPr>
          <a:xfrm>
            <a:off x="1507067" y="4050833"/>
            <a:ext cx="7766936" cy="1096899"/>
          </a:xfrm>
        </p:spPr>
        <p:txBody>
          <a:bodyPr vert="horz" lIns="91440" tIns="45720" rIns="91440" bIns="45720" rtlCol="0" anchor="t">
            <a:normAutofit/>
          </a:bodyPr>
          <a:lstStyle/>
          <a:p>
            <a:pPr algn="r"/>
            <a:r>
              <a:rPr lang="en-US" sz="1800" dirty="0"/>
              <a:t>Seeking the best model </a:t>
            </a:r>
          </a:p>
        </p:txBody>
      </p:sp>
      <p:sp>
        <p:nvSpPr>
          <p:cNvPr id="2" name="Titolo 1">
            <a:extLst>
              <a:ext uri="{FF2B5EF4-FFF2-40B4-BE49-F238E27FC236}">
                <a16:creationId xmlns:a16="http://schemas.microsoft.com/office/drawing/2014/main" id="{8C870FF0-01B0-4F01-A4E9-D9F474B0259D}"/>
              </a:ext>
            </a:extLst>
          </p:cNvPr>
          <p:cNvSpPr>
            <a:spLocks noGrp="1"/>
          </p:cNvSpPr>
          <p:nvPr>
            <p:ph type="title"/>
          </p:nvPr>
        </p:nvSpPr>
        <p:spPr>
          <a:xfrm>
            <a:off x="1507067" y="1397000"/>
            <a:ext cx="7766936" cy="2653836"/>
          </a:xfrm>
        </p:spPr>
        <p:txBody>
          <a:bodyPr vert="horz" lIns="91440" tIns="45720" rIns="91440" bIns="45720" rtlCol="0" anchor="b">
            <a:normAutofit/>
          </a:bodyPr>
          <a:lstStyle/>
          <a:p>
            <a:pPr algn="r"/>
            <a:r>
              <a:rPr lang="en-US" sz="4800" dirty="0"/>
              <a:t>Modelling</a:t>
            </a:r>
          </a:p>
        </p:txBody>
      </p:sp>
      <p:sp>
        <p:nvSpPr>
          <p:cNvPr id="30"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399561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A9C8AB-310C-4A48-AEE0-295DF52DF272}"/>
              </a:ext>
            </a:extLst>
          </p:cNvPr>
          <p:cNvSpPr>
            <a:spLocks noGrp="1"/>
          </p:cNvSpPr>
          <p:nvPr>
            <p:ph type="title"/>
          </p:nvPr>
        </p:nvSpPr>
        <p:spPr/>
        <p:txBody>
          <a:bodyPr anchor="ctr"/>
          <a:lstStyle/>
          <a:p>
            <a:r>
              <a:rPr lang="en-GB" dirty="0"/>
              <a:t>Modelling</a:t>
            </a:r>
          </a:p>
        </p:txBody>
      </p:sp>
      <p:sp>
        <p:nvSpPr>
          <p:cNvPr id="3" name="Segnaposto contenuto 2">
            <a:extLst>
              <a:ext uri="{FF2B5EF4-FFF2-40B4-BE49-F238E27FC236}">
                <a16:creationId xmlns:a16="http://schemas.microsoft.com/office/drawing/2014/main" id="{FFFE7C81-58D9-4D70-9959-B25CF4CFC594}"/>
              </a:ext>
            </a:extLst>
          </p:cNvPr>
          <p:cNvSpPr>
            <a:spLocks noGrp="1"/>
          </p:cNvSpPr>
          <p:nvPr>
            <p:ph idx="1"/>
          </p:nvPr>
        </p:nvSpPr>
        <p:spPr>
          <a:xfrm>
            <a:off x="677334" y="1930400"/>
            <a:ext cx="8596668" cy="3880773"/>
          </a:xfrm>
        </p:spPr>
        <p:txBody>
          <a:bodyPr>
            <a:normAutofit/>
          </a:bodyPr>
          <a:lstStyle/>
          <a:p>
            <a:r>
              <a:rPr lang="en-US" dirty="0"/>
              <a:t>Deep learning approaches were used to face the problem.</a:t>
            </a:r>
          </a:p>
          <a:p>
            <a:r>
              <a:rPr lang="en-US" dirty="0"/>
              <a:t>The modelling stage consists in two main steps:</a:t>
            </a:r>
          </a:p>
          <a:p>
            <a:pPr lvl="1"/>
            <a:r>
              <a:rPr lang="en-US" b="1" dirty="0"/>
              <a:t>Hyperparameters tuning</a:t>
            </a:r>
            <a:r>
              <a:rPr lang="en-US" dirty="0"/>
              <a:t>: process of choosing a set of optimal hyperparameters of a model.</a:t>
            </a:r>
            <a:endParaRPr lang="en-US" b="1" dirty="0"/>
          </a:p>
          <a:p>
            <a:pPr lvl="1"/>
            <a:r>
              <a:rPr lang="en-US" b="1" dirty="0"/>
              <a:t>Model selection</a:t>
            </a:r>
            <a:r>
              <a:rPr lang="en-US" dirty="0"/>
              <a:t>: process of comparing different models’ performance on an independent test set.</a:t>
            </a:r>
          </a:p>
          <a:p>
            <a:r>
              <a:rPr lang="en-US" dirty="0"/>
              <a:t>Both steps was performed considering three different neural networks:</a:t>
            </a:r>
            <a:endParaRPr lang="en-US" i="1" dirty="0"/>
          </a:p>
          <a:p>
            <a:pPr lvl="1"/>
            <a:r>
              <a:rPr lang="en-US" i="1" dirty="0" err="1"/>
              <a:t>AlexNet</a:t>
            </a:r>
            <a:endParaRPr lang="en-US" i="1" dirty="0"/>
          </a:p>
          <a:p>
            <a:pPr lvl="1"/>
            <a:r>
              <a:rPr lang="en-US" i="1" dirty="0"/>
              <a:t>VGG11_bn</a:t>
            </a:r>
          </a:p>
          <a:p>
            <a:pPr lvl="1"/>
            <a:r>
              <a:rPr lang="en-US" i="1" dirty="0" err="1"/>
              <a:t>GoogLeNet</a:t>
            </a:r>
            <a:endParaRPr lang="en-US" i="1" dirty="0"/>
          </a:p>
        </p:txBody>
      </p:sp>
    </p:spTree>
    <p:extLst>
      <p:ext uri="{BB962C8B-B14F-4D97-AF65-F5344CB8AC3E}">
        <p14:creationId xmlns:p14="http://schemas.microsoft.com/office/powerpoint/2010/main" val="1441122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A9C8AB-310C-4A48-AEE0-295DF52DF272}"/>
              </a:ext>
            </a:extLst>
          </p:cNvPr>
          <p:cNvSpPr>
            <a:spLocks noGrp="1"/>
          </p:cNvSpPr>
          <p:nvPr>
            <p:ph type="title"/>
          </p:nvPr>
        </p:nvSpPr>
        <p:spPr>
          <a:xfrm>
            <a:off x="677334" y="174591"/>
            <a:ext cx="8596668" cy="1320800"/>
          </a:xfrm>
        </p:spPr>
        <p:txBody>
          <a:bodyPr anchor="ctr"/>
          <a:lstStyle/>
          <a:p>
            <a:r>
              <a:rPr lang="en-GB" dirty="0"/>
              <a:t>Hyperparameters tuning (1/4)</a:t>
            </a:r>
          </a:p>
        </p:txBody>
      </p:sp>
      <p:sp>
        <p:nvSpPr>
          <p:cNvPr id="3" name="Segnaposto contenuto 2">
            <a:extLst>
              <a:ext uri="{FF2B5EF4-FFF2-40B4-BE49-F238E27FC236}">
                <a16:creationId xmlns:a16="http://schemas.microsoft.com/office/drawing/2014/main" id="{FFFE7C81-58D9-4D70-9959-B25CF4CFC594}"/>
              </a:ext>
            </a:extLst>
          </p:cNvPr>
          <p:cNvSpPr>
            <a:spLocks noGrp="1"/>
          </p:cNvSpPr>
          <p:nvPr>
            <p:ph idx="1"/>
          </p:nvPr>
        </p:nvSpPr>
        <p:spPr>
          <a:xfrm>
            <a:off x="677334" y="1495391"/>
            <a:ext cx="8596668" cy="3880773"/>
          </a:xfrm>
        </p:spPr>
        <p:txBody>
          <a:bodyPr>
            <a:normAutofit/>
          </a:bodyPr>
          <a:lstStyle/>
          <a:p>
            <a:r>
              <a:rPr lang="en-US" dirty="0"/>
              <a:t>Given a certain model, train it on training data and evaluate his performance on validation data. </a:t>
            </a:r>
          </a:p>
          <a:p>
            <a:pPr lvl="1"/>
            <a:r>
              <a:rPr lang="en-US" dirty="0"/>
              <a:t>Repeat this procedure looking at model's performance and changing the hyperparameters accordingly. </a:t>
            </a:r>
          </a:p>
          <a:p>
            <a:pPr lvl="1"/>
            <a:r>
              <a:rPr lang="en-US" dirty="0"/>
              <a:t>The whole process will be repeated for different models.</a:t>
            </a:r>
            <a:endParaRPr lang="it-IT" dirty="0"/>
          </a:p>
          <a:p>
            <a:r>
              <a:rPr lang="en-AU" sz="1800" dirty="0"/>
              <a:t>For each model, the following hyperparameters were considered:</a:t>
            </a:r>
          </a:p>
          <a:p>
            <a:endParaRPr lang="en-US" dirty="0"/>
          </a:p>
        </p:txBody>
      </p:sp>
      <p:graphicFrame>
        <p:nvGraphicFramePr>
          <p:cNvPr id="7" name="Tabella 4">
            <a:extLst>
              <a:ext uri="{FF2B5EF4-FFF2-40B4-BE49-F238E27FC236}">
                <a16:creationId xmlns:a16="http://schemas.microsoft.com/office/drawing/2014/main" id="{1C270C93-B003-41E9-AE60-8DF8594F23A8}"/>
              </a:ext>
            </a:extLst>
          </p:cNvPr>
          <p:cNvGraphicFramePr>
            <a:graphicFrameLocks noGrp="1"/>
          </p:cNvGraphicFramePr>
          <p:nvPr>
            <p:extLst>
              <p:ext uri="{D42A27DB-BD31-4B8C-83A1-F6EECF244321}">
                <p14:modId xmlns:p14="http://schemas.microsoft.com/office/powerpoint/2010/main" val="2635096559"/>
              </p:ext>
            </p:extLst>
          </p:nvPr>
        </p:nvGraphicFramePr>
        <p:xfrm>
          <a:off x="2115881" y="3787897"/>
          <a:ext cx="5719573" cy="2133600"/>
        </p:xfrm>
        <a:graphic>
          <a:graphicData uri="http://schemas.openxmlformats.org/drawingml/2006/table">
            <a:tbl>
              <a:tblPr firstRow="1" bandRow="1">
                <a:tableStyleId>{5C22544A-7EE6-4342-B048-85BDC9FD1C3A}</a:tableStyleId>
              </a:tblPr>
              <a:tblGrid>
                <a:gridCol w="1601280">
                  <a:extLst>
                    <a:ext uri="{9D8B030D-6E8A-4147-A177-3AD203B41FA5}">
                      <a16:colId xmlns:a16="http://schemas.microsoft.com/office/drawing/2014/main" val="562966659"/>
                    </a:ext>
                  </a:extLst>
                </a:gridCol>
                <a:gridCol w="4118293">
                  <a:extLst>
                    <a:ext uri="{9D8B030D-6E8A-4147-A177-3AD203B41FA5}">
                      <a16:colId xmlns:a16="http://schemas.microsoft.com/office/drawing/2014/main" val="977040593"/>
                    </a:ext>
                  </a:extLst>
                </a:gridCol>
              </a:tblGrid>
              <a:tr h="0">
                <a:tc>
                  <a:txBody>
                    <a:bodyPr/>
                    <a:lstStyle/>
                    <a:p>
                      <a:r>
                        <a:rPr lang="en-AU" sz="1400" noProof="0" dirty="0"/>
                        <a:t>Hyperparameter</a:t>
                      </a:r>
                    </a:p>
                  </a:txBody>
                  <a:tcPr/>
                </a:tc>
                <a:tc>
                  <a:txBody>
                    <a:bodyPr/>
                    <a:lstStyle/>
                    <a:p>
                      <a:r>
                        <a:rPr lang="en-AU" sz="1400" noProof="0" dirty="0"/>
                        <a:t>Description</a:t>
                      </a:r>
                    </a:p>
                  </a:txBody>
                  <a:tcPr/>
                </a:tc>
                <a:extLst>
                  <a:ext uri="{0D108BD9-81ED-4DB2-BD59-A6C34878D82A}">
                    <a16:rowId xmlns:a16="http://schemas.microsoft.com/office/drawing/2014/main" val="4269258646"/>
                  </a:ext>
                </a:extLst>
              </a:tr>
              <a:tr h="269061">
                <a:tc>
                  <a:txBody>
                    <a:bodyPr/>
                    <a:lstStyle/>
                    <a:p>
                      <a:r>
                        <a:rPr lang="en-AU" sz="1400" noProof="0" dirty="0">
                          <a:solidFill>
                            <a:schemeClr val="tx1">
                              <a:lumMod val="75000"/>
                              <a:lumOff val="25000"/>
                            </a:schemeClr>
                          </a:solidFill>
                        </a:rPr>
                        <a:t>mode</a:t>
                      </a:r>
                    </a:p>
                  </a:txBody>
                  <a:tcPr/>
                </a:tc>
                <a:tc>
                  <a:txBody>
                    <a:bodyPr/>
                    <a:lstStyle/>
                    <a:p>
                      <a:r>
                        <a:rPr lang="en-AU" sz="1400" noProof="0" dirty="0">
                          <a:solidFill>
                            <a:schemeClr val="tx1">
                              <a:lumMod val="75000"/>
                              <a:lumOff val="25000"/>
                            </a:schemeClr>
                          </a:solidFill>
                        </a:rPr>
                        <a:t>feature extraction, fine tuning or mixed</a:t>
                      </a:r>
                    </a:p>
                  </a:txBody>
                  <a:tcPr/>
                </a:tc>
                <a:extLst>
                  <a:ext uri="{0D108BD9-81ED-4DB2-BD59-A6C34878D82A}">
                    <a16:rowId xmlns:a16="http://schemas.microsoft.com/office/drawing/2014/main" val="4196599944"/>
                  </a:ext>
                </a:extLst>
              </a:tr>
              <a:tr h="269061">
                <a:tc>
                  <a:txBody>
                    <a:bodyPr/>
                    <a:lstStyle/>
                    <a:p>
                      <a:r>
                        <a:rPr lang="en-AU" sz="1400" noProof="0" dirty="0" err="1">
                          <a:solidFill>
                            <a:schemeClr val="tx1">
                              <a:lumMod val="75000"/>
                              <a:lumOff val="25000"/>
                            </a:schemeClr>
                          </a:solidFill>
                        </a:rPr>
                        <a:t>batch_size</a:t>
                      </a:r>
                      <a:endParaRPr lang="en-AU" sz="1400" noProof="0" dirty="0">
                        <a:solidFill>
                          <a:schemeClr val="tx1">
                            <a:lumMod val="75000"/>
                            <a:lumOff val="25000"/>
                          </a:schemeClr>
                        </a:solidFill>
                      </a:endParaRPr>
                    </a:p>
                  </a:txBody>
                  <a:tcPr/>
                </a:tc>
                <a:tc>
                  <a:txBody>
                    <a:bodyPr/>
                    <a:lstStyle/>
                    <a:p>
                      <a:r>
                        <a:rPr lang="en-AU" sz="1400" noProof="0" dirty="0">
                          <a:solidFill>
                            <a:schemeClr val="tx1">
                              <a:lumMod val="75000"/>
                              <a:lumOff val="25000"/>
                            </a:schemeClr>
                          </a:solidFill>
                        </a:rPr>
                        <a:t>size of batch</a:t>
                      </a:r>
                    </a:p>
                  </a:txBody>
                  <a:tcPr/>
                </a:tc>
                <a:extLst>
                  <a:ext uri="{0D108BD9-81ED-4DB2-BD59-A6C34878D82A}">
                    <a16:rowId xmlns:a16="http://schemas.microsoft.com/office/drawing/2014/main" val="4200404242"/>
                  </a:ext>
                </a:extLst>
              </a:tr>
              <a:tr h="269061">
                <a:tc>
                  <a:txBody>
                    <a:bodyPr/>
                    <a:lstStyle/>
                    <a:p>
                      <a:r>
                        <a:rPr lang="en-AU" sz="1400" noProof="0" dirty="0" err="1">
                          <a:solidFill>
                            <a:schemeClr val="tx1">
                              <a:lumMod val="75000"/>
                              <a:lumOff val="25000"/>
                            </a:schemeClr>
                          </a:solidFill>
                        </a:rPr>
                        <a:t>num_epochs</a:t>
                      </a:r>
                      <a:endParaRPr lang="en-AU" sz="1400" noProof="0" dirty="0">
                        <a:solidFill>
                          <a:schemeClr val="tx1">
                            <a:lumMod val="75000"/>
                            <a:lumOff val="25000"/>
                          </a:schemeClr>
                        </a:solidFill>
                      </a:endParaRPr>
                    </a:p>
                  </a:txBody>
                  <a:tcPr/>
                </a:tc>
                <a:tc>
                  <a:txBody>
                    <a:bodyPr/>
                    <a:lstStyle/>
                    <a:p>
                      <a:r>
                        <a:rPr lang="en-AU" sz="1400" noProof="0" dirty="0">
                          <a:solidFill>
                            <a:schemeClr val="tx1">
                              <a:lumMod val="75000"/>
                              <a:lumOff val="25000"/>
                            </a:schemeClr>
                          </a:solidFill>
                        </a:rPr>
                        <a:t>number of epochs to perform</a:t>
                      </a:r>
                    </a:p>
                  </a:txBody>
                  <a:tcPr/>
                </a:tc>
                <a:extLst>
                  <a:ext uri="{0D108BD9-81ED-4DB2-BD59-A6C34878D82A}">
                    <a16:rowId xmlns:a16="http://schemas.microsoft.com/office/drawing/2014/main" val="1111402557"/>
                  </a:ext>
                </a:extLst>
              </a:tr>
              <a:tr h="269061">
                <a:tc>
                  <a:txBody>
                    <a:bodyPr/>
                    <a:lstStyle/>
                    <a:p>
                      <a:r>
                        <a:rPr lang="en-AU" sz="1400" noProof="0" dirty="0" err="1">
                          <a:solidFill>
                            <a:schemeClr val="tx1">
                              <a:lumMod val="75000"/>
                              <a:lumOff val="25000"/>
                            </a:schemeClr>
                          </a:solidFill>
                        </a:rPr>
                        <a:t>loss_function</a:t>
                      </a:r>
                      <a:endParaRPr lang="en-AU" sz="1400" noProof="0" dirty="0">
                        <a:solidFill>
                          <a:schemeClr val="tx1">
                            <a:lumMod val="75000"/>
                            <a:lumOff val="25000"/>
                          </a:schemeClr>
                        </a:solidFill>
                      </a:endParaRPr>
                    </a:p>
                  </a:txBody>
                  <a:tcPr/>
                </a:tc>
                <a:tc>
                  <a:txBody>
                    <a:bodyPr/>
                    <a:lstStyle/>
                    <a:p>
                      <a:r>
                        <a:rPr lang="en-AU" sz="1400" noProof="0" dirty="0">
                          <a:solidFill>
                            <a:schemeClr val="tx1">
                              <a:lumMod val="75000"/>
                              <a:lumOff val="25000"/>
                            </a:schemeClr>
                          </a:solidFill>
                        </a:rPr>
                        <a:t>function to minimize during the training</a:t>
                      </a:r>
                    </a:p>
                  </a:txBody>
                  <a:tcPr/>
                </a:tc>
                <a:extLst>
                  <a:ext uri="{0D108BD9-81ED-4DB2-BD59-A6C34878D82A}">
                    <a16:rowId xmlns:a16="http://schemas.microsoft.com/office/drawing/2014/main" val="2267546075"/>
                  </a:ext>
                </a:extLst>
              </a:tr>
              <a:tr h="269061">
                <a:tc>
                  <a:txBody>
                    <a:bodyPr/>
                    <a:lstStyle/>
                    <a:p>
                      <a:r>
                        <a:rPr lang="en-AU" sz="1400" noProof="0" dirty="0">
                          <a:solidFill>
                            <a:schemeClr val="tx1">
                              <a:lumMod val="75000"/>
                              <a:lumOff val="25000"/>
                            </a:schemeClr>
                          </a:solidFill>
                        </a:rPr>
                        <a:t>optimizer</a:t>
                      </a:r>
                    </a:p>
                  </a:txBody>
                  <a:tcPr/>
                </a:tc>
                <a:tc>
                  <a:txBody>
                    <a:bodyPr/>
                    <a:lstStyle/>
                    <a:p>
                      <a:r>
                        <a:rPr lang="en-AU" sz="1400" noProof="0" dirty="0">
                          <a:solidFill>
                            <a:schemeClr val="tx1">
                              <a:lumMod val="75000"/>
                              <a:lumOff val="25000"/>
                            </a:schemeClr>
                          </a:solidFill>
                        </a:rPr>
                        <a:t>optimization algorithm used to train the model</a:t>
                      </a:r>
                    </a:p>
                  </a:txBody>
                  <a:tcPr/>
                </a:tc>
                <a:extLst>
                  <a:ext uri="{0D108BD9-81ED-4DB2-BD59-A6C34878D82A}">
                    <a16:rowId xmlns:a16="http://schemas.microsoft.com/office/drawing/2014/main" val="3112586435"/>
                  </a:ext>
                </a:extLst>
              </a:tr>
              <a:tr h="269061">
                <a:tc>
                  <a:txBody>
                    <a:bodyPr/>
                    <a:lstStyle/>
                    <a:p>
                      <a:r>
                        <a:rPr lang="en-AU" sz="1400" noProof="0" dirty="0" err="1">
                          <a:solidFill>
                            <a:schemeClr val="tx1">
                              <a:lumMod val="75000"/>
                              <a:lumOff val="25000"/>
                            </a:schemeClr>
                          </a:solidFill>
                        </a:rPr>
                        <a:t>learning_rate</a:t>
                      </a:r>
                      <a:endParaRPr lang="en-AU" sz="1400" noProof="0" dirty="0">
                        <a:solidFill>
                          <a:schemeClr val="tx1">
                            <a:lumMod val="75000"/>
                            <a:lumOff val="25000"/>
                          </a:schemeClr>
                        </a:solidFill>
                      </a:endParaRPr>
                    </a:p>
                  </a:txBody>
                  <a:tcPr/>
                </a:tc>
                <a:tc>
                  <a:txBody>
                    <a:bodyPr/>
                    <a:lstStyle/>
                    <a:p>
                      <a:r>
                        <a:rPr lang="en-AU" sz="1400" noProof="0" dirty="0">
                          <a:solidFill>
                            <a:schemeClr val="tx1">
                              <a:lumMod val="75000"/>
                              <a:lumOff val="25000"/>
                            </a:schemeClr>
                          </a:solidFill>
                        </a:rPr>
                        <a:t>learning rate used by the optimization algorithm</a:t>
                      </a:r>
                    </a:p>
                  </a:txBody>
                  <a:tcPr/>
                </a:tc>
                <a:extLst>
                  <a:ext uri="{0D108BD9-81ED-4DB2-BD59-A6C34878D82A}">
                    <a16:rowId xmlns:a16="http://schemas.microsoft.com/office/drawing/2014/main" val="805661377"/>
                  </a:ext>
                </a:extLst>
              </a:tr>
            </a:tbl>
          </a:graphicData>
        </a:graphic>
      </p:graphicFrame>
    </p:spTree>
    <p:extLst>
      <p:ext uri="{BB962C8B-B14F-4D97-AF65-F5344CB8AC3E}">
        <p14:creationId xmlns:p14="http://schemas.microsoft.com/office/powerpoint/2010/main" val="3720066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A9C8AB-310C-4A48-AEE0-295DF52DF272}"/>
              </a:ext>
            </a:extLst>
          </p:cNvPr>
          <p:cNvSpPr>
            <a:spLocks noGrp="1"/>
          </p:cNvSpPr>
          <p:nvPr>
            <p:ph type="title"/>
          </p:nvPr>
        </p:nvSpPr>
        <p:spPr>
          <a:xfrm>
            <a:off x="677334" y="174591"/>
            <a:ext cx="8596668" cy="1320800"/>
          </a:xfrm>
        </p:spPr>
        <p:txBody>
          <a:bodyPr anchor="ctr"/>
          <a:lstStyle/>
          <a:p>
            <a:r>
              <a:rPr lang="en-GB" dirty="0"/>
              <a:t>Hyperparameters tuning (2/4)</a:t>
            </a:r>
          </a:p>
        </p:txBody>
      </p:sp>
      <p:sp>
        <p:nvSpPr>
          <p:cNvPr id="3" name="Segnaposto contenuto 2">
            <a:extLst>
              <a:ext uri="{FF2B5EF4-FFF2-40B4-BE49-F238E27FC236}">
                <a16:creationId xmlns:a16="http://schemas.microsoft.com/office/drawing/2014/main" id="{FFFE7C81-58D9-4D70-9959-B25CF4CFC594}"/>
              </a:ext>
            </a:extLst>
          </p:cNvPr>
          <p:cNvSpPr>
            <a:spLocks noGrp="1"/>
          </p:cNvSpPr>
          <p:nvPr>
            <p:ph idx="1"/>
          </p:nvPr>
        </p:nvSpPr>
        <p:spPr>
          <a:xfrm>
            <a:off x="677334" y="1495391"/>
            <a:ext cx="8596668" cy="3880773"/>
          </a:xfrm>
        </p:spPr>
        <p:txBody>
          <a:bodyPr>
            <a:normAutofit/>
          </a:bodyPr>
          <a:lstStyle/>
          <a:p>
            <a:r>
              <a:rPr lang="en-US" dirty="0"/>
              <a:t>Hyperparameters can be tuned by means of </a:t>
            </a:r>
            <a:r>
              <a:rPr lang="en-US" b="1" dirty="0"/>
              <a:t>learning curves</a:t>
            </a:r>
            <a:r>
              <a:rPr lang="en-US" dirty="0"/>
              <a:t>, plots that show how learning performance (loss and accuracy) changes over epochs, on train and validation set.</a:t>
            </a:r>
          </a:p>
          <a:p>
            <a:pPr lvl="1"/>
            <a:r>
              <a:rPr lang="en-US" u="sng" dirty="0"/>
              <a:t>Es:</a:t>
            </a:r>
            <a:r>
              <a:rPr lang="en-US" dirty="0"/>
              <a:t> tuning the learning mode (</a:t>
            </a:r>
            <a:r>
              <a:rPr lang="en-US" i="1" dirty="0"/>
              <a:t>VGG11_bn</a:t>
            </a:r>
            <a:r>
              <a:rPr lang="en-US" dirty="0"/>
              <a:t>)</a:t>
            </a:r>
          </a:p>
          <a:p>
            <a:endParaRPr lang="en-US" dirty="0"/>
          </a:p>
        </p:txBody>
      </p:sp>
      <p:pic>
        <p:nvPicPr>
          <p:cNvPr id="10" name="Immagine 9">
            <a:extLst>
              <a:ext uri="{FF2B5EF4-FFF2-40B4-BE49-F238E27FC236}">
                <a16:creationId xmlns:a16="http://schemas.microsoft.com/office/drawing/2014/main" id="{7E937D5C-8E79-4A21-A221-9E425FE07382}"/>
              </a:ext>
            </a:extLst>
          </p:cNvPr>
          <p:cNvPicPr>
            <a:picLocks noChangeAspect="1"/>
          </p:cNvPicPr>
          <p:nvPr/>
        </p:nvPicPr>
        <p:blipFill>
          <a:blip r:embed="rId2"/>
          <a:srcRect/>
          <a:stretch/>
        </p:blipFill>
        <p:spPr>
          <a:xfrm>
            <a:off x="636694" y="2958918"/>
            <a:ext cx="2949255" cy="2124075"/>
          </a:xfrm>
          <a:prstGeom prst="rect">
            <a:avLst/>
          </a:prstGeom>
        </p:spPr>
      </p:pic>
      <p:sp>
        <p:nvSpPr>
          <p:cNvPr id="11" name="CasellaDiTesto 10">
            <a:extLst>
              <a:ext uri="{FF2B5EF4-FFF2-40B4-BE49-F238E27FC236}">
                <a16:creationId xmlns:a16="http://schemas.microsoft.com/office/drawing/2014/main" id="{6403EB0A-7E99-4D2B-9E13-E27A4B7C237E}"/>
              </a:ext>
            </a:extLst>
          </p:cNvPr>
          <p:cNvSpPr txBox="1"/>
          <p:nvPr/>
        </p:nvSpPr>
        <p:spPr>
          <a:xfrm>
            <a:off x="1252327" y="5083804"/>
            <a:ext cx="1717990" cy="307777"/>
          </a:xfrm>
          <a:prstGeom prst="rect">
            <a:avLst/>
          </a:prstGeom>
          <a:noFill/>
        </p:spPr>
        <p:txBody>
          <a:bodyPr wrap="square" rtlCol="0">
            <a:spAutoFit/>
          </a:bodyPr>
          <a:lstStyle/>
          <a:p>
            <a:pPr algn="ctr"/>
            <a:r>
              <a:rPr lang="it-IT" sz="1400" dirty="0">
                <a:solidFill>
                  <a:schemeClr val="tx1">
                    <a:lumMod val="75000"/>
                    <a:lumOff val="25000"/>
                  </a:schemeClr>
                </a:solidFill>
              </a:rPr>
              <a:t>Feature </a:t>
            </a:r>
            <a:r>
              <a:rPr lang="it-IT" sz="1400" dirty="0" err="1">
                <a:solidFill>
                  <a:schemeClr val="tx1">
                    <a:lumMod val="75000"/>
                    <a:lumOff val="25000"/>
                  </a:schemeClr>
                </a:solidFill>
              </a:rPr>
              <a:t>extraction</a:t>
            </a:r>
            <a:endParaRPr lang="it-IT" sz="1400" dirty="0">
              <a:solidFill>
                <a:schemeClr val="tx1">
                  <a:lumMod val="75000"/>
                  <a:lumOff val="25000"/>
                </a:schemeClr>
              </a:solidFill>
            </a:endParaRPr>
          </a:p>
        </p:txBody>
      </p:sp>
      <p:pic>
        <p:nvPicPr>
          <p:cNvPr id="12" name="Immagine 11">
            <a:extLst>
              <a:ext uri="{FF2B5EF4-FFF2-40B4-BE49-F238E27FC236}">
                <a16:creationId xmlns:a16="http://schemas.microsoft.com/office/drawing/2014/main" id="{8B2A23D4-9851-4002-BD9A-44DC4D9205FF}"/>
              </a:ext>
            </a:extLst>
          </p:cNvPr>
          <p:cNvPicPr>
            <a:picLocks noChangeAspect="1"/>
          </p:cNvPicPr>
          <p:nvPr/>
        </p:nvPicPr>
        <p:blipFill>
          <a:blip r:embed="rId3"/>
          <a:srcRect/>
          <a:stretch/>
        </p:blipFill>
        <p:spPr>
          <a:xfrm>
            <a:off x="6686447" y="2958918"/>
            <a:ext cx="2949255" cy="2124075"/>
          </a:xfrm>
          <a:prstGeom prst="rect">
            <a:avLst/>
          </a:prstGeom>
        </p:spPr>
      </p:pic>
      <p:sp>
        <p:nvSpPr>
          <p:cNvPr id="13" name="CasellaDiTesto 12">
            <a:extLst>
              <a:ext uri="{FF2B5EF4-FFF2-40B4-BE49-F238E27FC236}">
                <a16:creationId xmlns:a16="http://schemas.microsoft.com/office/drawing/2014/main" id="{7A27B18B-B679-4A84-A336-634A9E45B3DD}"/>
              </a:ext>
            </a:extLst>
          </p:cNvPr>
          <p:cNvSpPr txBox="1"/>
          <p:nvPr/>
        </p:nvSpPr>
        <p:spPr>
          <a:xfrm>
            <a:off x="7339891" y="5083804"/>
            <a:ext cx="1642369" cy="307777"/>
          </a:xfrm>
          <a:prstGeom prst="rect">
            <a:avLst/>
          </a:prstGeom>
          <a:noFill/>
        </p:spPr>
        <p:txBody>
          <a:bodyPr wrap="square" rtlCol="0">
            <a:spAutoFit/>
          </a:bodyPr>
          <a:lstStyle/>
          <a:p>
            <a:pPr algn="ctr"/>
            <a:r>
              <a:rPr lang="it-IT" sz="1400" dirty="0">
                <a:solidFill>
                  <a:schemeClr val="tx1">
                    <a:lumMod val="75000"/>
                    <a:lumOff val="25000"/>
                  </a:schemeClr>
                </a:solidFill>
              </a:rPr>
              <a:t>Fine tuning</a:t>
            </a:r>
          </a:p>
        </p:txBody>
      </p:sp>
      <p:pic>
        <p:nvPicPr>
          <p:cNvPr id="14" name="Immagine 13">
            <a:extLst>
              <a:ext uri="{FF2B5EF4-FFF2-40B4-BE49-F238E27FC236}">
                <a16:creationId xmlns:a16="http://schemas.microsoft.com/office/drawing/2014/main" id="{B7D7E84F-C666-43DE-BBB0-C1DBC1E85278}"/>
              </a:ext>
            </a:extLst>
          </p:cNvPr>
          <p:cNvPicPr>
            <a:picLocks noChangeAspect="1"/>
          </p:cNvPicPr>
          <p:nvPr/>
        </p:nvPicPr>
        <p:blipFill>
          <a:blip r:embed="rId4"/>
          <a:srcRect/>
          <a:stretch/>
        </p:blipFill>
        <p:spPr>
          <a:xfrm>
            <a:off x="3661571" y="2958918"/>
            <a:ext cx="2949255" cy="2124075"/>
          </a:xfrm>
          <a:prstGeom prst="rect">
            <a:avLst/>
          </a:prstGeom>
        </p:spPr>
      </p:pic>
      <p:sp>
        <p:nvSpPr>
          <p:cNvPr id="15" name="CasellaDiTesto 14">
            <a:extLst>
              <a:ext uri="{FF2B5EF4-FFF2-40B4-BE49-F238E27FC236}">
                <a16:creationId xmlns:a16="http://schemas.microsoft.com/office/drawing/2014/main" id="{5CDEC495-12F3-4343-9CB4-369BDD96837F}"/>
              </a:ext>
            </a:extLst>
          </p:cNvPr>
          <p:cNvSpPr txBox="1"/>
          <p:nvPr/>
        </p:nvSpPr>
        <p:spPr>
          <a:xfrm>
            <a:off x="4315014" y="5083804"/>
            <a:ext cx="1642369" cy="307777"/>
          </a:xfrm>
          <a:prstGeom prst="rect">
            <a:avLst/>
          </a:prstGeom>
          <a:noFill/>
        </p:spPr>
        <p:txBody>
          <a:bodyPr wrap="square" rtlCol="0">
            <a:spAutoFit/>
          </a:bodyPr>
          <a:lstStyle/>
          <a:p>
            <a:pPr algn="ctr"/>
            <a:r>
              <a:rPr lang="it-IT" sz="1400" dirty="0">
                <a:solidFill>
                  <a:schemeClr val="tx1">
                    <a:lumMod val="75000"/>
                    <a:lumOff val="25000"/>
                  </a:schemeClr>
                </a:solidFill>
              </a:rPr>
              <a:t>Mixed</a:t>
            </a:r>
          </a:p>
        </p:txBody>
      </p:sp>
    </p:spTree>
    <p:extLst>
      <p:ext uri="{BB962C8B-B14F-4D97-AF65-F5344CB8AC3E}">
        <p14:creationId xmlns:p14="http://schemas.microsoft.com/office/powerpoint/2010/main" val="4853147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A9C8AB-310C-4A48-AEE0-295DF52DF272}"/>
              </a:ext>
            </a:extLst>
          </p:cNvPr>
          <p:cNvSpPr>
            <a:spLocks noGrp="1"/>
          </p:cNvSpPr>
          <p:nvPr>
            <p:ph type="title"/>
          </p:nvPr>
        </p:nvSpPr>
        <p:spPr>
          <a:xfrm>
            <a:off x="677334" y="5909"/>
            <a:ext cx="8596668" cy="1320800"/>
          </a:xfrm>
        </p:spPr>
        <p:txBody>
          <a:bodyPr anchor="ctr"/>
          <a:lstStyle/>
          <a:p>
            <a:r>
              <a:rPr lang="en-GB" dirty="0"/>
              <a:t>Hyperparameters tuning (2/4)</a:t>
            </a:r>
          </a:p>
        </p:txBody>
      </p:sp>
      <p:sp>
        <p:nvSpPr>
          <p:cNvPr id="3" name="Segnaposto contenuto 2">
            <a:extLst>
              <a:ext uri="{FF2B5EF4-FFF2-40B4-BE49-F238E27FC236}">
                <a16:creationId xmlns:a16="http://schemas.microsoft.com/office/drawing/2014/main" id="{FFFE7C81-58D9-4D70-9959-B25CF4CFC594}"/>
              </a:ext>
            </a:extLst>
          </p:cNvPr>
          <p:cNvSpPr>
            <a:spLocks noGrp="1"/>
          </p:cNvSpPr>
          <p:nvPr>
            <p:ph idx="1"/>
          </p:nvPr>
        </p:nvSpPr>
        <p:spPr>
          <a:xfrm>
            <a:off x="677334" y="1273442"/>
            <a:ext cx="8596668" cy="384002"/>
          </a:xfrm>
        </p:spPr>
        <p:txBody>
          <a:bodyPr>
            <a:normAutofit/>
          </a:bodyPr>
          <a:lstStyle/>
          <a:p>
            <a:pPr lvl="1"/>
            <a:r>
              <a:rPr lang="en-US" u="sng" dirty="0"/>
              <a:t>Es:</a:t>
            </a:r>
            <a:r>
              <a:rPr lang="en-US" dirty="0"/>
              <a:t> tuning the learning rate (</a:t>
            </a:r>
            <a:r>
              <a:rPr lang="en-US" i="1" dirty="0"/>
              <a:t>VGG11_bn</a:t>
            </a:r>
            <a:r>
              <a:rPr lang="en-US" dirty="0"/>
              <a:t>)</a:t>
            </a:r>
          </a:p>
        </p:txBody>
      </p:sp>
      <p:sp>
        <p:nvSpPr>
          <p:cNvPr id="10" name="Segnaposto contenuto 2">
            <a:extLst>
              <a:ext uri="{FF2B5EF4-FFF2-40B4-BE49-F238E27FC236}">
                <a16:creationId xmlns:a16="http://schemas.microsoft.com/office/drawing/2014/main" id="{5D73EE33-5343-420A-8B78-DDB3748ABBD2}"/>
              </a:ext>
            </a:extLst>
          </p:cNvPr>
          <p:cNvSpPr txBox="1">
            <a:spLocks/>
          </p:cNvSpPr>
          <p:nvPr/>
        </p:nvSpPr>
        <p:spPr>
          <a:xfrm>
            <a:off x="677334" y="4225267"/>
            <a:ext cx="8596668" cy="38400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r>
              <a:rPr lang="en-US" u="sng" dirty="0"/>
              <a:t>Es:</a:t>
            </a:r>
            <a:r>
              <a:rPr lang="en-US" dirty="0"/>
              <a:t> tuning the number of epoch (</a:t>
            </a:r>
            <a:r>
              <a:rPr lang="en-US" i="1" dirty="0"/>
              <a:t>VGG11_bn</a:t>
            </a:r>
            <a:r>
              <a:rPr lang="en-US" dirty="0"/>
              <a:t>)</a:t>
            </a:r>
          </a:p>
        </p:txBody>
      </p:sp>
      <p:pic>
        <p:nvPicPr>
          <p:cNvPr id="11" name="Immagine 10">
            <a:extLst>
              <a:ext uri="{FF2B5EF4-FFF2-40B4-BE49-F238E27FC236}">
                <a16:creationId xmlns:a16="http://schemas.microsoft.com/office/drawing/2014/main" id="{2D576797-1889-4FCF-A884-43CF6C780171}"/>
              </a:ext>
            </a:extLst>
          </p:cNvPr>
          <p:cNvPicPr>
            <a:picLocks noChangeAspect="1"/>
          </p:cNvPicPr>
          <p:nvPr/>
        </p:nvPicPr>
        <p:blipFill>
          <a:blip r:embed="rId2"/>
          <a:srcRect/>
          <a:stretch/>
        </p:blipFill>
        <p:spPr>
          <a:xfrm>
            <a:off x="1536329" y="4609269"/>
            <a:ext cx="2949255" cy="2124075"/>
          </a:xfrm>
          <a:prstGeom prst="rect">
            <a:avLst/>
          </a:prstGeom>
        </p:spPr>
      </p:pic>
      <p:pic>
        <p:nvPicPr>
          <p:cNvPr id="18" name="Immagine 17">
            <a:extLst>
              <a:ext uri="{FF2B5EF4-FFF2-40B4-BE49-F238E27FC236}">
                <a16:creationId xmlns:a16="http://schemas.microsoft.com/office/drawing/2014/main" id="{40CDA383-7B68-4518-8AAB-799F6936FBA9}"/>
              </a:ext>
            </a:extLst>
          </p:cNvPr>
          <p:cNvPicPr>
            <a:picLocks noChangeAspect="1"/>
          </p:cNvPicPr>
          <p:nvPr/>
        </p:nvPicPr>
        <p:blipFill>
          <a:blip r:embed="rId3"/>
          <a:stretch>
            <a:fillRect/>
          </a:stretch>
        </p:blipFill>
        <p:spPr>
          <a:xfrm>
            <a:off x="626534" y="1657444"/>
            <a:ext cx="2949256" cy="2124075"/>
          </a:xfrm>
          <a:prstGeom prst="rect">
            <a:avLst/>
          </a:prstGeom>
        </p:spPr>
      </p:pic>
      <p:sp>
        <p:nvSpPr>
          <p:cNvPr id="19" name="CasellaDiTesto 18">
            <a:extLst>
              <a:ext uri="{FF2B5EF4-FFF2-40B4-BE49-F238E27FC236}">
                <a16:creationId xmlns:a16="http://schemas.microsoft.com/office/drawing/2014/main" id="{4DDB0190-4B71-480B-8462-57E41111CA02}"/>
              </a:ext>
            </a:extLst>
          </p:cNvPr>
          <p:cNvSpPr txBox="1"/>
          <p:nvPr/>
        </p:nvSpPr>
        <p:spPr>
          <a:xfrm>
            <a:off x="1242167" y="3782330"/>
            <a:ext cx="1717990" cy="307777"/>
          </a:xfrm>
          <a:prstGeom prst="rect">
            <a:avLst/>
          </a:prstGeom>
          <a:noFill/>
        </p:spPr>
        <p:txBody>
          <a:bodyPr wrap="square" rtlCol="0">
            <a:spAutoFit/>
          </a:bodyPr>
          <a:lstStyle/>
          <a:p>
            <a:pPr algn="ctr"/>
            <a:r>
              <a:rPr lang="it-IT" sz="1400" dirty="0">
                <a:solidFill>
                  <a:schemeClr val="tx1">
                    <a:lumMod val="75000"/>
                    <a:lumOff val="25000"/>
                  </a:schemeClr>
                </a:solidFill>
              </a:rPr>
              <a:t>Low learning rate</a:t>
            </a:r>
          </a:p>
        </p:txBody>
      </p:sp>
      <p:pic>
        <p:nvPicPr>
          <p:cNvPr id="20" name="Immagine 19">
            <a:extLst>
              <a:ext uri="{FF2B5EF4-FFF2-40B4-BE49-F238E27FC236}">
                <a16:creationId xmlns:a16="http://schemas.microsoft.com/office/drawing/2014/main" id="{5E47AAE3-7434-4362-90C3-50F6462F52AF}"/>
              </a:ext>
            </a:extLst>
          </p:cNvPr>
          <p:cNvPicPr>
            <a:picLocks noChangeAspect="1"/>
          </p:cNvPicPr>
          <p:nvPr/>
        </p:nvPicPr>
        <p:blipFill>
          <a:blip r:embed="rId4"/>
          <a:srcRect/>
          <a:stretch/>
        </p:blipFill>
        <p:spPr>
          <a:xfrm>
            <a:off x="6676287" y="1657444"/>
            <a:ext cx="2949255" cy="2124075"/>
          </a:xfrm>
          <a:prstGeom prst="rect">
            <a:avLst/>
          </a:prstGeom>
        </p:spPr>
      </p:pic>
      <p:sp>
        <p:nvSpPr>
          <p:cNvPr id="21" name="CasellaDiTesto 20">
            <a:extLst>
              <a:ext uri="{FF2B5EF4-FFF2-40B4-BE49-F238E27FC236}">
                <a16:creationId xmlns:a16="http://schemas.microsoft.com/office/drawing/2014/main" id="{F5DAC2A3-7446-4953-8053-9CBC26B77254}"/>
              </a:ext>
            </a:extLst>
          </p:cNvPr>
          <p:cNvSpPr txBox="1"/>
          <p:nvPr/>
        </p:nvSpPr>
        <p:spPr>
          <a:xfrm>
            <a:off x="7329730" y="3782330"/>
            <a:ext cx="1642369" cy="307777"/>
          </a:xfrm>
          <a:prstGeom prst="rect">
            <a:avLst/>
          </a:prstGeom>
          <a:noFill/>
        </p:spPr>
        <p:txBody>
          <a:bodyPr wrap="square" rtlCol="0">
            <a:spAutoFit/>
          </a:bodyPr>
          <a:lstStyle/>
          <a:p>
            <a:pPr algn="ctr"/>
            <a:r>
              <a:rPr lang="it-IT" sz="1400" dirty="0">
                <a:solidFill>
                  <a:schemeClr val="tx1">
                    <a:lumMod val="75000"/>
                    <a:lumOff val="25000"/>
                  </a:schemeClr>
                </a:solidFill>
              </a:rPr>
              <a:t>High learning rate</a:t>
            </a:r>
          </a:p>
        </p:txBody>
      </p:sp>
      <p:pic>
        <p:nvPicPr>
          <p:cNvPr id="22" name="Immagine 21">
            <a:extLst>
              <a:ext uri="{FF2B5EF4-FFF2-40B4-BE49-F238E27FC236}">
                <a16:creationId xmlns:a16="http://schemas.microsoft.com/office/drawing/2014/main" id="{A8DFE768-B00B-458B-98B0-63E146FB057C}"/>
              </a:ext>
            </a:extLst>
          </p:cNvPr>
          <p:cNvPicPr>
            <a:picLocks noChangeAspect="1"/>
          </p:cNvPicPr>
          <p:nvPr/>
        </p:nvPicPr>
        <p:blipFill>
          <a:blip r:embed="rId5"/>
          <a:srcRect/>
          <a:stretch/>
        </p:blipFill>
        <p:spPr>
          <a:xfrm>
            <a:off x="3651411" y="1657444"/>
            <a:ext cx="2949255" cy="2124075"/>
          </a:xfrm>
          <a:prstGeom prst="rect">
            <a:avLst/>
          </a:prstGeom>
        </p:spPr>
      </p:pic>
      <p:sp>
        <p:nvSpPr>
          <p:cNvPr id="23" name="CasellaDiTesto 22">
            <a:extLst>
              <a:ext uri="{FF2B5EF4-FFF2-40B4-BE49-F238E27FC236}">
                <a16:creationId xmlns:a16="http://schemas.microsoft.com/office/drawing/2014/main" id="{CD5419B2-34E3-4488-86CF-D2216B46B3F2}"/>
              </a:ext>
            </a:extLst>
          </p:cNvPr>
          <p:cNvSpPr txBox="1"/>
          <p:nvPr/>
        </p:nvSpPr>
        <p:spPr>
          <a:xfrm>
            <a:off x="4267044" y="3782330"/>
            <a:ext cx="1717989" cy="307777"/>
          </a:xfrm>
          <a:prstGeom prst="rect">
            <a:avLst/>
          </a:prstGeom>
          <a:noFill/>
        </p:spPr>
        <p:txBody>
          <a:bodyPr wrap="square" rtlCol="0">
            <a:spAutoFit/>
          </a:bodyPr>
          <a:lstStyle/>
          <a:p>
            <a:pPr algn="ctr"/>
            <a:r>
              <a:rPr lang="it-IT" sz="1400" dirty="0">
                <a:solidFill>
                  <a:schemeClr val="tx1">
                    <a:lumMod val="75000"/>
                    <a:lumOff val="25000"/>
                  </a:schemeClr>
                </a:solidFill>
              </a:rPr>
              <a:t>Good learning rate</a:t>
            </a:r>
          </a:p>
        </p:txBody>
      </p:sp>
      <p:sp>
        <p:nvSpPr>
          <p:cNvPr id="4" name="Ovale 3">
            <a:extLst>
              <a:ext uri="{FF2B5EF4-FFF2-40B4-BE49-F238E27FC236}">
                <a16:creationId xmlns:a16="http://schemas.microsoft.com/office/drawing/2014/main" id="{1DC535F3-034B-4A23-B442-79CF820FA2BB}"/>
              </a:ext>
            </a:extLst>
          </p:cNvPr>
          <p:cNvSpPr/>
          <p:nvPr/>
        </p:nvSpPr>
        <p:spPr>
          <a:xfrm>
            <a:off x="2522064" y="6184900"/>
            <a:ext cx="290986" cy="220980"/>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it-IT"/>
          </a:p>
        </p:txBody>
      </p:sp>
      <p:sp>
        <p:nvSpPr>
          <p:cNvPr id="29" name="CasellaDiTesto 28">
            <a:extLst>
              <a:ext uri="{FF2B5EF4-FFF2-40B4-BE49-F238E27FC236}">
                <a16:creationId xmlns:a16="http://schemas.microsoft.com/office/drawing/2014/main" id="{6C46EA73-8B94-471A-A5DF-D1B90D634565}"/>
              </a:ext>
            </a:extLst>
          </p:cNvPr>
          <p:cNvSpPr txBox="1"/>
          <p:nvPr/>
        </p:nvSpPr>
        <p:spPr>
          <a:xfrm>
            <a:off x="4591039" y="5446058"/>
            <a:ext cx="1425786" cy="276999"/>
          </a:xfrm>
          <a:prstGeom prst="rect">
            <a:avLst/>
          </a:prstGeom>
          <a:noFill/>
        </p:spPr>
        <p:txBody>
          <a:bodyPr wrap="square" rtlCol="0">
            <a:spAutoFit/>
          </a:bodyPr>
          <a:lstStyle/>
          <a:p>
            <a:pPr algn="ctr"/>
            <a:r>
              <a:rPr lang="it-IT" sz="1200" dirty="0" err="1">
                <a:solidFill>
                  <a:schemeClr val="accent2"/>
                </a:solidFill>
              </a:rPr>
              <a:t>num_epochs</a:t>
            </a:r>
            <a:r>
              <a:rPr lang="it-IT" sz="1200" dirty="0">
                <a:solidFill>
                  <a:schemeClr val="accent2"/>
                </a:solidFill>
              </a:rPr>
              <a:t> ~ 30</a:t>
            </a:r>
          </a:p>
        </p:txBody>
      </p:sp>
    </p:spTree>
    <p:extLst>
      <p:ext uri="{BB962C8B-B14F-4D97-AF65-F5344CB8AC3E}">
        <p14:creationId xmlns:p14="http://schemas.microsoft.com/office/powerpoint/2010/main" val="2258559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ella 10">
            <a:extLst>
              <a:ext uri="{FF2B5EF4-FFF2-40B4-BE49-F238E27FC236}">
                <a16:creationId xmlns:a16="http://schemas.microsoft.com/office/drawing/2014/main" id="{9CA3B467-61E1-4706-9909-DE8C03D555AF}"/>
              </a:ext>
            </a:extLst>
          </p:cNvPr>
          <p:cNvGraphicFramePr>
            <a:graphicFrameLocks noGrp="1"/>
          </p:cNvGraphicFramePr>
          <p:nvPr>
            <p:ph sz="half" idx="2"/>
            <p:extLst>
              <p:ext uri="{D42A27DB-BD31-4B8C-83A1-F6EECF244321}">
                <p14:modId xmlns:p14="http://schemas.microsoft.com/office/powerpoint/2010/main" val="3035301188"/>
              </p:ext>
            </p:extLst>
          </p:nvPr>
        </p:nvGraphicFramePr>
        <p:xfrm>
          <a:off x="6046476" y="1338986"/>
          <a:ext cx="3227526" cy="2438400"/>
        </p:xfrm>
        <a:graphic>
          <a:graphicData uri="http://schemas.openxmlformats.org/drawingml/2006/table">
            <a:tbl>
              <a:tblPr firstRow="1" bandRow="1">
                <a:tableStyleId>{5C22544A-7EE6-4342-B048-85BDC9FD1C3A}</a:tableStyleId>
              </a:tblPr>
              <a:tblGrid>
                <a:gridCol w="1613763">
                  <a:extLst>
                    <a:ext uri="{9D8B030D-6E8A-4147-A177-3AD203B41FA5}">
                      <a16:colId xmlns:a16="http://schemas.microsoft.com/office/drawing/2014/main" val="3904223144"/>
                    </a:ext>
                  </a:extLst>
                </a:gridCol>
                <a:gridCol w="1613763">
                  <a:extLst>
                    <a:ext uri="{9D8B030D-6E8A-4147-A177-3AD203B41FA5}">
                      <a16:colId xmlns:a16="http://schemas.microsoft.com/office/drawing/2014/main" val="1143560645"/>
                    </a:ext>
                  </a:extLst>
                </a:gridCol>
              </a:tblGrid>
              <a:tr h="176365">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400" noProof="0" dirty="0"/>
                        <a:t>VGG11_bn</a:t>
                      </a:r>
                    </a:p>
                  </a:txBody>
                  <a:tcPr/>
                </a:tc>
                <a:tc hMerge="1">
                  <a:txBody>
                    <a:bodyPr/>
                    <a:lstStyle/>
                    <a:p>
                      <a:endParaRPr lang="it-IT" sz="1400" dirty="0"/>
                    </a:p>
                  </a:txBody>
                  <a:tcPr/>
                </a:tc>
                <a:extLst>
                  <a:ext uri="{0D108BD9-81ED-4DB2-BD59-A6C34878D82A}">
                    <a16:rowId xmlns:a16="http://schemas.microsoft.com/office/drawing/2014/main" val="1710999428"/>
                  </a:ext>
                </a:extLst>
              </a:tr>
              <a:tr h="1763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400" kern="1200" noProof="0" dirty="0">
                          <a:solidFill>
                            <a:schemeClr val="bg1"/>
                          </a:solidFill>
                          <a:latin typeface="+mn-lt"/>
                          <a:ea typeface="+mn-ea"/>
                          <a:cs typeface="+mn-cs"/>
                        </a:rPr>
                        <a:t>Hyperparameter</a:t>
                      </a:r>
                    </a:p>
                  </a:txBody>
                  <a:tcPr>
                    <a:solidFill>
                      <a:schemeClr val="accent2"/>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it-IT" sz="1400" kern="1200" dirty="0">
                          <a:solidFill>
                            <a:schemeClr val="bg1"/>
                          </a:solidFill>
                          <a:latin typeface="+mn-lt"/>
                          <a:ea typeface="+mn-ea"/>
                          <a:cs typeface="+mn-cs"/>
                        </a:rPr>
                        <a:t>Value</a:t>
                      </a:r>
                    </a:p>
                  </a:txBody>
                  <a:tcPr>
                    <a:solidFill>
                      <a:schemeClr val="accent2"/>
                    </a:solidFill>
                  </a:tcPr>
                </a:tc>
                <a:extLst>
                  <a:ext uri="{0D108BD9-81ED-4DB2-BD59-A6C34878D82A}">
                    <a16:rowId xmlns:a16="http://schemas.microsoft.com/office/drawing/2014/main" val="2121468301"/>
                  </a:ext>
                </a:extLst>
              </a:tr>
              <a:tr h="176365">
                <a:tc>
                  <a:txBody>
                    <a:bodyPr/>
                    <a:lstStyle/>
                    <a:p>
                      <a:r>
                        <a:rPr lang="en-AU" sz="1400" noProof="0" dirty="0">
                          <a:solidFill>
                            <a:schemeClr val="tx1">
                              <a:lumMod val="75000"/>
                              <a:lumOff val="25000"/>
                            </a:schemeClr>
                          </a:solidFill>
                        </a:rPr>
                        <a:t>mode</a:t>
                      </a:r>
                    </a:p>
                  </a:txBody>
                  <a:tcPr/>
                </a:tc>
                <a:tc>
                  <a:txBody>
                    <a:bodyPr/>
                    <a:lstStyle/>
                    <a:p>
                      <a:r>
                        <a:rPr lang="it-IT" sz="1400" dirty="0">
                          <a:solidFill>
                            <a:schemeClr val="tx1">
                              <a:lumMod val="75000"/>
                              <a:lumOff val="25000"/>
                            </a:schemeClr>
                          </a:solidFill>
                        </a:rPr>
                        <a:t>mixed</a:t>
                      </a:r>
                    </a:p>
                  </a:txBody>
                  <a:tcPr/>
                </a:tc>
                <a:extLst>
                  <a:ext uri="{0D108BD9-81ED-4DB2-BD59-A6C34878D82A}">
                    <a16:rowId xmlns:a16="http://schemas.microsoft.com/office/drawing/2014/main" val="763758342"/>
                  </a:ext>
                </a:extLst>
              </a:tr>
              <a:tr h="176365">
                <a:tc>
                  <a:txBody>
                    <a:bodyPr/>
                    <a:lstStyle/>
                    <a:p>
                      <a:r>
                        <a:rPr lang="en-AU" sz="1400" noProof="0">
                          <a:solidFill>
                            <a:schemeClr val="tx1">
                              <a:lumMod val="75000"/>
                              <a:lumOff val="25000"/>
                            </a:schemeClr>
                          </a:solidFill>
                        </a:rPr>
                        <a:t>batch_size</a:t>
                      </a:r>
                    </a:p>
                  </a:txBody>
                  <a:tcPr/>
                </a:tc>
                <a:tc>
                  <a:txBody>
                    <a:bodyPr/>
                    <a:lstStyle/>
                    <a:p>
                      <a:r>
                        <a:rPr lang="it-IT" sz="1400" dirty="0">
                          <a:solidFill>
                            <a:schemeClr val="tx1">
                              <a:lumMod val="75000"/>
                              <a:lumOff val="25000"/>
                            </a:schemeClr>
                          </a:solidFill>
                        </a:rPr>
                        <a:t>32</a:t>
                      </a:r>
                    </a:p>
                  </a:txBody>
                  <a:tcPr/>
                </a:tc>
                <a:extLst>
                  <a:ext uri="{0D108BD9-81ED-4DB2-BD59-A6C34878D82A}">
                    <a16:rowId xmlns:a16="http://schemas.microsoft.com/office/drawing/2014/main" val="2457596245"/>
                  </a:ext>
                </a:extLst>
              </a:tr>
              <a:tr h="176365">
                <a:tc>
                  <a:txBody>
                    <a:bodyPr/>
                    <a:lstStyle/>
                    <a:p>
                      <a:r>
                        <a:rPr lang="en-AU" sz="1400" noProof="0">
                          <a:solidFill>
                            <a:schemeClr val="tx1">
                              <a:lumMod val="75000"/>
                              <a:lumOff val="25000"/>
                            </a:schemeClr>
                          </a:solidFill>
                        </a:rPr>
                        <a:t>num_epochs</a:t>
                      </a:r>
                    </a:p>
                  </a:txBody>
                  <a:tcPr/>
                </a:tc>
                <a:tc>
                  <a:txBody>
                    <a:bodyPr/>
                    <a:lstStyle/>
                    <a:p>
                      <a:r>
                        <a:rPr lang="it-IT" sz="1400" dirty="0">
                          <a:solidFill>
                            <a:schemeClr val="tx1">
                              <a:lumMod val="75000"/>
                              <a:lumOff val="25000"/>
                            </a:schemeClr>
                          </a:solidFill>
                        </a:rPr>
                        <a:t>30</a:t>
                      </a:r>
                    </a:p>
                  </a:txBody>
                  <a:tcPr/>
                </a:tc>
                <a:extLst>
                  <a:ext uri="{0D108BD9-81ED-4DB2-BD59-A6C34878D82A}">
                    <a16:rowId xmlns:a16="http://schemas.microsoft.com/office/drawing/2014/main" val="736317528"/>
                  </a:ext>
                </a:extLst>
              </a:tr>
              <a:tr h="176365">
                <a:tc>
                  <a:txBody>
                    <a:bodyPr/>
                    <a:lstStyle/>
                    <a:p>
                      <a:r>
                        <a:rPr lang="en-AU" sz="1400" noProof="0" dirty="0" err="1">
                          <a:solidFill>
                            <a:schemeClr val="tx1">
                              <a:lumMod val="75000"/>
                              <a:lumOff val="25000"/>
                            </a:schemeClr>
                          </a:solidFill>
                        </a:rPr>
                        <a:t>loss_function</a:t>
                      </a:r>
                      <a:endParaRPr lang="en-AU" sz="1400" noProof="0" dirty="0">
                        <a:solidFill>
                          <a:schemeClr val="tx1">
                            <a:lumMod val="75000"/>
                            <a:lumOff val="25000"/>
                          </a:schemeClr>
                        </a:solidFill>
                      </a:endParaRPr>
                    </a:p>
                  </a:txBody>
                  <a:tcPr/>
                </a:tc>
                <a:tc>
                  <a:txBody>
                    <a:bodyPr/>
                    <a:lstStyle/>
                    <a:p>
                      <a:r>
                        <a:rPr lang="it-IT" sz="1400" dirty="0">
                          <a:solidFill>
                            <a:schemeClr val="tx1">
                              <a:lumMod val="75000"/>
                              <a:lumOff val="25000"/>
                            </a:schemeClr>
                          </a:solidFill>
                        </a:rPr>
                        <a:t>cross </a:t>
                      </a:r>
                      <a:r>
                        <a:rPr lang="it-IT" sz="1400" dirty="0" err="1">
                          <a:solidFill>
                            <a:schemeClr val="tx1">
                              <a:lumMod val="75000"/>
                              <a:lumOff val="25000"/>
                            </a:schemeClr>
                          </a:solidFill>
                        </a:rPr>
                        <a:t>entropy</a:t>
                      </a:r>
                      <a:endParaRPr lang="it-IT" sz="1400" dirty="0">
                        <a:solidFill>
                          <a:schemeClr val="tx1">
                            <a:lumMod val="75000"/>
                            <a:lumOff val="25000"/>
                          </a:schemeClr>
                        </a:solidFill>
                      </a:endParaRPr>
                    </a:p>
                  </a:txBody>
                  <a:tcPr/>
                </a:tc>
                <a:extLst>
                  <a:ext uri="{0D108BD9-81ED-4DB2-BD59-A6C34878D82A}">
                    <a16:rowId xmlns:a16="http://schemas.microsoft.com/office/drawing/2014/main" val="2060157364"/>
                  </a:ext>
                </a:extLst>
              </a:tr>
              <a:tr h="176365">
                <a:tc>
                  <a:txBody>
                    <a:bodyPr/>
                    <a:lstStyle/>
                    <a:p>
                      <a:r>
                        <a:rPr lang="en-AU" sz="1400" noProof="0">
                          <a:solidFill>
                            <a:schemeClr val="tx1">
                              <a:lumMod val="75000"/>
                              <a:lumOff val="25000"/>
                            </a:schemeClr>
                          </a:solidFill>
                        </a:rPr>
                        <a:t>optimizer</a:t>
                      </a:r>
                    </a:p>
                  </a:txBody>
                  <a:tcPr/>
                </a:tc>
                <a:tc>
                  <a:txBody>
                    <a:bodyPr/>
                    <a:lstStyle/>
                    <a:p>
                      <a:r>
                        <a:rPr lang="it-IT" sz="1400" dirty="0">
                          <a:solidFill>
                            <a:schemeClr val="tx1">
                              <a:lumMod val="75000"/>
                              <a:lumOff val="25000"/>
                            </a:schemeClr>
                          </a:solidFill>
                        </a:rPr>
                        <a:t>Adam</a:t>
                      </a:r>
                    </a:p>
                  </a:txBody>
                  <a:tcPr/>
                </a:tc>
                <a:extLst>
                  <a:ext uri="{0D108BD9-81ED-4DB2-BD59-A6C34878D82A}">
                    <a16:rowId xmlns:a16="http://schemas.microsoft.com/office/drawing/2014/main" val="2877420164"/>
                  </a:ext>
                </a:extLst>
              </a:tr>
              <a:tr h="176365">
                <a:tc>
                  <a:txBody>
                    <a:bodyPr/>
                    <a:lstStyle/>
                    <a:p>
                      <a:r>
                        <a:rPr lang="en-AU" sz="1400" noProof="0">
                          <a:solidFill>
                            <a:schemeClr val="tx1">
                              <a:lumMod val="75000"/>
                              <a:lumOff val="25000"/>
                            </a:schemeClr>
                          </a:solidFill>
                        </a:rPr>
                        <a:t>learning_rate</a:t>
                      </a:r>
                    </a:p>
                  </a:txBody>
                  <a:tcPr/>
                </a:tc>
                <a:tc>
                  <a:txBody>
                    <a:bodyPr/>
                    <a:lstStyle/>
                    <a:p>
                      <a:r>
                        <a:rPr lang="it-IT" sz="1400" dirty="0">
                          <a:solidFill>
                            <a:schemeClr val="tx1">
                              <a:lumMod val="75000"/>
                              <a:lumOff val="25000"/>
                            </a:schemeClr>
                          </a:solidFill>
                        </a:rPr>
                        <a:t>0.00001</a:t>
                      </a:r>
                    </a:p>
                  </a:txBody>
                  <a:tcPr/>
                </a:tc>
                <a:extLst>
                  <a:ext uri="{0D108BD9-81ED-4DB2-BD59-A6C34878D82A}">
                    <a16:rowId xmlns:a16="http://schemas.microsoft.com/office/drawing/2014/main" val="3786409558"/>
                  </a:ext>
                </a:extLst>
              </a:tr>
            </a:tbl>
          </a:graphicData>
        </a:graphic>
      </p:graphicFrame>
      <p:graphicFrame>
        <p:nvGraphicFramePr>
          <p:cNvPr id="11" name="Tabella 10">
            <a:extLst>
              <a:ext uri="{FF2B5EF4-FFF2-40B4-BE49-F238E27FC236}">
                <a16:creationId xmlns:a16="http://schemas.microsoft.com/office/drawing/2014/main" id="{455FE82F-FBAF-40BB-8F37-807103C9581B}"/>
              </a:ext>
            </a:extLst>
          </p:cNvPr>
          <p:cNvGraphicFramePr>
            <a:graphicFrameLocks/>
          </p:cNvGraphicFramePr>
          <p:nvPr>
            <p:extLst>
              <p:ext uri="{D42A27DB-BD31-4B8C-83A1-F6EECF244321}">
                <p14:modId xmlns:p14="http://schemas.microsoft.com/office/powerpoint/2010/main" val="1883929608"/>
              </p:ext>
            </p:extLst>
          </p:nvPr>
        </p:nvGraphicFramePr>
        <p:xfrm>
          <a:off x="3368146" y="4088333"/>
          <a:ext cx="3215043" cy="2438400"/>
        </p:xfrm>
        <a:graphic>
          <a:graphicData uri="http://schemas.openxmlformats.org/drawingml/2006/table">
            <a:tbl>
              <a:tblPr firstRow="1" bandRow="1">
                <a:tableStyleId>{5C22544A-7EE6-4342-B048-85BDC9FD1C3A}</a:tableStyleId>
              </a:tblPr>
              <a:tblGrid>
                <a:gridCol w="1601280">
                  <a:extLst>
                    <a:ext uri="{9D8B030D-6E8A-4147-A177-3AD203B41FA5}">
                      <a16:colId xmlns:a16="http://schemas.microsoft.com/office/drawing/2014/main" val="3904223144"/>
                    </a:ext>
                  </a:extLst>
                </a:gridCol>
                <a:gridCol w="1613763">
                  <a:extLst>
                    <a:ext uri="{9D8B030D-6E8A-4147-A177-3AD203B41FA5}">
                      <a16:colId xmlns:a16="http://schemas.microsoft.com/office/drawing/2014/main" val="1143560645"/>
                    </a:ext>
                  </a:extLst>
                </a:gridCol>
              </a:tblGrid>
              <a:tr h="176365">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400" noProof="0" dirty="0" err="1"/>
                        <a:t>GoogLeNet</a:t>
                      </a:r>
                      <a:endParaRPr lang="en-AU" sz="1400" noProof="0" dirty="0"/>
                    </a:p>
                  </a:txBody>
                  <a:tcPr/>
                </a:tc>
                <a:tc hMerge="1">
                  <a:txBody>
                    <a:bodyPr/>
                    <a:lstStyle/>
                    <a:p>
                      <a:endParaRPr lang="it-IT" sz="1400" dirty="0"/>
                    </a:p>
                  </a:txBody>
                  <a:tcPr/>
                </a:tc>
                <a:extLst>
                  <a:ext uri="{0D108BD9-81ED-4DB2-BD59-A6C34878D82A}">
                    <a16:rowId xmlns:a16="http://schemas.microsoft.com/office/drawing/2014/main" val="2750533072"/>
                  </a:ext>
                </a:extLst>
              </a:tr>
              <a:tr h="1763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400" noProof="0" dirty="0">
                          <a:solidFill>
                            <a:schemeClr val="bg1"/>
                          </a:solidFill>
                        </a:rPr>
                        <a:t>Hyperparameter</a:t>
                      </a:r>
                    </a:p>
                  </a:txBody>
                  <a:tcPr>
                    <a:solidFill>
                      <a:schemeClr val="accent2"/>
                    </a:solidFill>
                  </a:tcPr>
                </a:tc>
                <a:tc>
                  <a:txBody>
                    <a:bodyPr/>
                    <a:lstStyle/>
                    <a:p>
                      <a:r>
                        <a:rPr lang="it-IT" sz="1400" dirty="0">
                          <a:solidFill>
                            <a:schemeClr val="bg1"/>
                          </a:solidFill>
                        </a:rPr>
                        <a:t>Value</a:t>
                      </a:r>
                    </a:p>
                  </a:txBody>
                  <a:tcPr>
                    <a:solidFill>
                      <a:schemeClr val="accent2"/>
                    </a:solidFill>
                  </a:tcPr>
                </a:tc>
                <a:extLst>
                  <a:ext uri="{0D108BD9-81ED-4DB2-BD59-A6C34878D82A}">
                    <a16:rowId xmlns:a16="http://schemas.microsoft.com/office/drawing/2014/main" val="2121468301"/>
                  </a:ext>
                </a:extLst>
              </a:tr>
              <a:tr h="176365">
                <a:tc>
                  <a:txBody>
                    <a:bodyPr/>
                    <a:lstStyle/>
                    <a:p>
                      <a:r>
                        <a:rPr lang="en-AU" sz="1400" noProof="0" dirty="0">
                          <a:solidFill>
                            <a:schemeClr val="tx1">
                              <a:lumMod val="75000"/>
                              <a:lumOff val="25000"/>
                            </a:schemeClr>
                          </a:solidFill>
                        </a:rPr>
                        <a:t>mode</a:t>
                      </a:r>
                    </a:p>
                  </a:txBody>
                  <a:tcPr/>
                </a:tc>
                <a:tc>
                  <a:txBody>
                    <a:bodyPr/>
                    <a:lstStyle/>
                    <a:p>
                      <a:r>
                        <a:rPr lang="it-IT" sz="1400" dirty="0">
                          <a:solidFill>
                            <a:schemeClr val="tx1">
                              <a:lumMod val="75000"/>
                              <a:lumOff val="25000"/>
                            </a:schemeClr>
                          </a:solidFill>
                        </a:rPr>
                        <a:t>fine tuning</a:t>
                      </a:r>
                    </a:p>
                  </a:txBody>
                  <a:tcPr/>
                </a:tc>
                <a:extLst>
                  <a:ext uri="{0D108BD9-81ED-4DB2-BD59-A6C34878D82A}">
                    <a16:rowId xmlns:a16="http://schemas.microsoft.com/office/drawing/2014/main" val="763758342"/>
                  </a:ext>
                </a:extLst>
              </a:tr>
              <a:tr h="176365">
                <a:tc>
                  <a:txBody>
                    <a:bodyPr/>
                    <a:lstStyle/>
                    <a:p>
                      <a:r>
                        <a:rPr lang="en-AU" sz="1400" noProof="0" dirty="0" err="1">
                          <a:solidFill>
                            <a:schemeClr val="tx1">
                              <a:lumMod val="75000"/>
                              <a:lumOff val="25000"/>
                            </a:schemeClr>
                          </a:solidFill>
                        </a:rPr>
                        <a:t>batch_size</a:t>
                      </a:r>
                      <a:endParaRPr lang="en-AU" sz="1400" noProof="0" dirty="0">
                        <a:solidFill>
                          <a:schemeClr val="tx1">
                            <a:lumMod val="75000"/>
                            <a:lumOff val="25000"/>
                          </a:schemeClr>
                        </a:solidFill>
                      </a:endParaRPr>
                    </a:p>
                  </a:txBody>
                  <a:tcPr/>
                </a:tc>
                <a:tc>
                  <a:txBody>
                    <a:bodyPr/>
                    <a:lstStyle/>
                    <a:p>
                      <a:r>
                        <a:rPr lang="it-IT" sz="1400" dirty="0">
                          <a:solidFill>
                            <a:schemeClr val="tx1">
                              <a:lumMod val="75000"/>
                              <a:lumOff val="25000"/>
                            </a:schemeClr>
                          </a:solidFill>
                        </a:rPr>
                        <a:t>32</a:t>
                      </a:r>
                    </a:p>
                  </a:txBody>
                  <a:tcPr/>
                </a:tc>
                <a:extLst>
                  <a:ext uri="{0D108BD9-81ED-4DB2-BD59-A6C34878D82A}">
                    <a16:rowId xmlns:a16="http://schemas.microsoft.com/office/drawing/2014/main" val="2457596245"/>
                  </a:ext>
                </a:extLst>
              </a:tr>
              <a:tr h="176365">
                <a:tc>
                  <a:txBody>
                    <a:bodyPr/>
                    <a:lstStyle/>
                    <a:p>
                      <a:r>
                        <a:rPr lang="en-AU" sz="1400" noProof="0">
                          <a:solidFill>
                            <a:schemeClr val="tx1">
                              <a:lumMod val="75000"/>
                              <a:lumOff val="25000"/>
                            </a:schemeClr>
                          </a:solidFill>
                        </a:rPr>
                        <a:t>num_epochs</a:t>
                      </a:r>
                    </a:p>
                  </a:txBody>
                  <a:tcPr/>
                </a:tc>
                <a:tc>
                  <a:txBody>
                    <a:bodyPr/>
                    <a:lstStyle/>
                    <a:p>
                      <a:r>
                        <a:rPr lang="it-IT" sz="1400" dirty="0">
                          <a:solidFill>
                            <a:schemeClr val="tx1">
                              <a:lumMod val="75000"/>
                              <a:lumOff val="25000"/>
                            </a:schemeClr>
                          </a:solidFill>
                        </a:rPr>
                        <a:t>30</a:t>
                      </a:r>
                    </a:p>
                  </a:txBody>
                  <a:tcPr/>
                </a:tc>
                <a:extLst>
                  <a:ext uri="{0D108BD9-81ED-4DB2-BD59-A6C34878D82A}">
                    <a16:rowId xmlns:a16="http://schemas.microsoft.com/office/drawing/2014/main" val="736317528"/>
                  </a:ext>
                </a:extLst>
              </a:tr>
              <a:tr h="176365">
                <a:tc>
                  <a:txBody>
                    <a:bodyPr/>
                    <a:lstStyle/>
                    <a:p>
                      <a:r>
                        <a:rPr lang="en-AU" sz="1400" noProof="0" dirty="0" err="1">
                          <a:solidFill>
                            <a:schemeClr val="tx1">
                              <a:lumMod val="75000"/>
                              <a:lumOff val="25000"/>
                            </a:schemeClr>
                          </a:solidFill>
                        </a:rPr>
                        <a:t>loss_function</a:t>
                      </a:r>
                      <a:endParaRPr lang="en-AU" sz="1400" noProof="0" dirty="0">
                        <a:solidFill>
                          <a:schemeClr val="tx1">
                            <a:lumMod val="75000"/>
                            <a:lumOff val="25000"/>
                          </a:schemeClr>
                        </a:solidFill>
                      </a:endParaRPr>
                    </a:p>
                  </a:txBody>
                  <a:tcPr/>
                </a:tc>
                <a:tc>
                  <a:txBody>
                    <a:bodyPr/>
                    <a:lstStyle/>
                    <a:p>
                      <a:r>
                        <a:rPr lang="it-IT" sz="1400" dirty="0">
                          <a:solidFill>
                            <a:schemeClr val="tx1">
                              <a:lumMod val="75000"/>
                              <a:lumOff val="25000"/>
                            </a:schemeClr>
                          </a:solidFill>
                        </a:rPr>
                        <a:t>cross </a:t>
                      </a:r>
                      <a:r>
                        <a:rPr lang="it-IT" sz="1400" dirty="0" err="1">
                          <a:solidFill>
                            <a:schemeClr val="tx1">
                              <a:lumMod val="75000"/>
                              <a:lumOff val="25000"/>
                            </a:schemeClr>
                          </a:solidFill>
                        </a:rPr>
                        <a:t>entropy</a:t>
                      </a:r>
                      <a:endParaRPr lang="it-IT" sz="1400" dirty="0">
                        <a:solidFill>
                          <a:schemeClr val="tx1">
                            <a:lumMod val="75000"/>
                            <a:lumOff val="25000"/>
                          </a:schemeClr>
                        </a:solidFill>
                      </a:endParaRPr>
                    </a:p>
                  </a:txBody>
                  <a:tcPr/>
                </a:tc>
                <a:extLst>
                  <a:ext uri="{0D108BD9-81ED-4DB2-BD59-A6C34878D82A}">
                    <a16:rowId xmlns:a16="http://schemas.microsoft.com/office/drawing/2014/main" val="2060157364"/>
                  </a:ext>
                </a:extLst>
              </a:tr>
              <a:tr h="176365">
                <a:tc>
                  <a:txBody>
                    <a:bodyPr/>
                    <a:lstStyle/>
                    <a:p>
                      <a:r>
                        <a:rPr lang="en-AU" sz="1400" noProof="0">
                          <a:solidFill>
                            <a:schemeClr val="tx1">
                              <a:lumMod val="75000"/>
                              <a:lumOff val="25000"/>
                            </a:schemeClr>
                          </a:solidFill>
                        </a:rPr>
                        <a:t>optimizer</a:t>
                      </a:r>
                    </a:p>
                  </a:txBody>
                  <a:tcPr/>
                </a:tc>
                <a:tc>
                  <a:txBody>
                    <a:bodyPr/>
                    <a:lstStyle/>
                    <a:p>
                      <a:r>
                        <a:rPr lang="it-IT" sz="1400" dirty="0">
                          <a:solidFill>
                            <a:schemeClr val="tx1">
                              <a:lumMod val="75000"/>
                              <a:lumOff val="25000"/>
                            </a:schemeClr>
                          </a:solidFill>
                        </a:rPr>
                        <a:t>Adam</a:t>
                      </a:r>
                    </a:p>
                  </a:txBody>
                  <a:tcPr/>
                </a:tc>
                <a:extLst>
                  <a:ext uri="{0D108BD9-81ED-4DB2-BD59-A6C34878D82A}">
                    <a16:rowId xmlns:a16="http://schemas.microsoft.com/office/drawing/2014/main" val="2877420164"/>
                  </a:ext>
                </a:extLst>
              </a:tr>
              <a:tr h="176365">
                <a:tc>
                  <a:txBody>
                    <a:bodyPr/>
                    <a:lstStyle/>
                    <a:p>
                      <a:r>
                        <a:rPr lang="en-AU" sz="1400" noProof="0">
                          <a:solidFill>
                            <a:schemeClr val="tx1">
                              <a:lumMod val="75000"/>
                              <a:lumOff val="25000"/>
                            </a:schemeClr>
                          </a:solidFill>
                        </a:rPr>
                        <a:t>learning_rate</a:t>
                      </a:r>
                    </a:p>
                  </a:txBody>
                  <a:tcPr/>
                </a:tc>
                <a:tc>
                  <a:txBody>
                    <a:bodyPr/>
                    <a:lstStyle/>
                    <a:p>
                      <a:r>
                        <a:rPr lang="it-IT" sz="1400" dirty="0">
                          <a:solidFill>
                            <a:schemeClr val="tx1">
                              <a:lumMod val="75000"/>
                              <a:lumOff val="25000"/>
                            </a:schemeClr>
                          </a:solidFill>
                        </a:rPr>
                        <a:t>0.00001</a:t>
                      </a:r>
                    </a:p>
                  </a:txBody>
                  <a:tcPr/>
                </a:tc>
                <a:extLst>
                  <a:ext uri="{0D108BD9-81ED-4DB2-BD59-A6C34878D82A}">
                    <a16:rowId xmlns:a16="http://schemas.microsoft.com/office/drawing/2014/main" val="3786409558"/>
                  </a:ext>
                </a:extLst>
              </a:tr>
            </a:tbl>
          </a:graphicData>
        </a:graphic>
      </p:graphicFrame>
      <p:sp>
        <p:nvSpPr>
          <p:cNvPr id="16" name="Titolo 15">
            <a:extLst>
              <a:ext uri="{FF2B5EF4-FFF2-40B4-BE49-F238E27FC236}">
                <a16:creationId xmlns:a16="http://schemas.microsoft.com/office/drawing/2014/main" id="{46A92288-4E08-4A6F-A4AC-B05C1388E973}"/>
              </a:ext>
            </a:extLst>
          </p:cNvPr>
          <p:cNvSpPr>
            <a:spLocks noGrp="1"/>
          </p:cNvSpPr>
          <p:nvPr>
            <p:ph type="title"/>
          </p:nvPr>
        </p:nvSpPr>
        <p:spPr>
          <a:xfrm>
            <a:off x="677334" y="14173"/>
            <a:ext cx="8596668" cy="1320800"/>
          </a:xfrm>
        </p:spPr>
        <p:txBody>
          <a:bodyPr anchor="ctr"/>
          <a:lstStyle/>
          <a:p>
            <a:r>
              <a:rPr lang="en-GB" dirty="0"/>
              <a:t>Hyperparameters tuning (1/4)</a:t>
            </a:r>
            <a:endParaRPr lang="it-IT" dirty="0"/>
          </a:p>
        </p:txBody>
      </p:sp>
      <p:graphicFrame>
        <p:nvGraphicFramePr>
          <p:cNvPr id="17" name="Tabella 10">
            <a:extLst>
              <a:ext uri="{FF2B5EF4-FFF2-40B4-BE49-F238E27FC236}">
                <a16:creationId xmlns:a16="http://schemas.microsoft.com/office/drawing/2014/main" id="{114286AA-D757-4C14-8DA3-B9CCB0956D73}"/>
              </a:ext>
            </a:extLst>
          </p:cNvPr>
          <p:cNvGraphicFramePr>
            <a:graphicFrameLocks/>
          </p:cNvGraphicFramePr>
          <p:nvPr>
            <p:extLst>
              <p:ext uri="{D42A27DB-BD31-4B8C-83A1-F6EECF244321}">
                <p14:modId xmlns:p14="http://schemas.microsoft.com/office/powerpoint/2010/main" val="1583165382"/>
              </p:ext>
            </p:extLst>
          </p:nvPr>
        </p:nvGraphicFramePr>
        <p:xfrm>
          <a:off x="677334" y="1334973"/>
          <a:ext cx="3341281" cy="2438400"/>
        </p:xfrm>
        <a:graphic>
          <a:graphicData uri="http://schemas.openxmlformats.org/drawingml/2006/table">
            <a:tbl>
              <a:tblPr firstRow="1" bandRow="1">
                <a:tableStyleId>{5C22544A-7EE6-4342-B048-85BDC9FD1C3A}</a:tableStyleId>
              </a:tblPr>
              <a:tblGrid>
                <a:gridCol w="1613763">
                  <a:extLst>
                    <a:ext uri="{9D8B030D-6E8A-4147-A177-3AD203B41FA5}">
                      <a16:colId xmlns:a16="http://schemas.microsoft.com/office/drawing/2014/main" val="3904223144"/>
                    </a:ext>
                  </a:extLst>
                </a:gridCol>
                <a:gridCol w="1727518">
                  <a:extLst>
                    <a:ext uri="{9D8B030D-6E8A-4147-A177-3AD203B41FA5}">
                      <a16:colId xmlns:a16="http://schemas.microsoft.com/office/drawing/2014/main" val="1143560645"/>
                    </a:ext>
                  </a:extLst>
                </a:gridCol>
              </a:tblGrid>
              <a:tr h="176365">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AU" sz="1400" noProof="0" dirty="0"/>
                        <a:t>AlexNet</a:t>
                      </a:r>
                    </a:p>
                  </a:txBody>
                  <a:tcPr/>
                </a:tc>
                <a:tc hMerge="1">
                  <a:txBody>
                    <a:bodyPr/>
                    <a:lstStyle/>
                    <a:p>
                      <a:endParaRPr lang="it-IT" sz="1400" dirty="0"/>
                    </a:p>
                  </a:txBody>
                  <a:tcPr/>
                </a:tc>
                <a:extLst>
                  <a:ext uri="{0D108BD9-81ED-4DB2-BD59-A6C34878D82A}">
                    <a16:rowId xmlns:a16="http://schemas.microsoft.com/office/drawing/2014/main" val="705728882"/>
                  </a:ext>
                </a:extLst>
              </a:tr>
              <a:tr h="17636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400" noProof="0" dirty="0">
                          <a:solidFill>
                            <a:schemeClr val="bg1"/>
                          </a:solidFill>
                        </a:rPr>
                        <a:t>Hyperparameter</a:t>
                      </a:r>
                    </a:p>
                  </a:txBody>
                  <a:tcPr>
                    <a:solidFill>
                      <a:schemeClr val="accent2"/>
                    </a:solidFill>
                  </a:tcPr>
                </a:tc>
                <a:tc>
                  <a:txBody>
                    <a:bodyPr/>
                    <a:lstStyle/>
                    <a:p>
                      <a:r>
                        <a:rPr lang="it-IT" sz="1400" dirty="0">
                          <a:solidFill>
                            <a:schemeClr val="bg1"/>
                          </a:solidFill>
                        </a:rPr>
                        <a:t>Value</a:t>
                      </a:r>
                    </a:p>
                  </a:txBody>
                  <a:tcPr>
                    <a:solidFill>
                      <a:schemeClr val="accent2"/>
                    </a:solidFill>
                  </a:tcPr>
                </a:tc>
                <a:extLst>
                  <a:ext uri="{0D108BD9-81ED-4DB2-BD59-A6C34878D82A}">
                    <a16:rowId xmlns:a16="http://schemas.microsoft.com/office/drawing/2014/main" val="2121468301"/>
                  </a:ext>
                </a:extLst>
              </a:tr>
              <a:tr h="176365">
                <a:tc>
                  <a:txBody>
                    <a:bodyPr/>
                    <a:lstStyle/>
                    <a:p>
                      <a:r>
                        <a:rPr lang="en-AU" sz="1400" noProof="0" dirty="0">
                          <a:solidFill>
                            <a:schemeClr val="tx1">
                              <a:lumMod val="75000"/>
                              <a:lumOff val="25000"/>
                            </a:schemeClr>
                          </a:solidFill>
                        </a:rPr>
                        <a:t>mode</a:t>
                      </a:r>
                    </a:p>
                  </a:txBody>
                  <a:tcPr/>
                </a:tc>
                <a:tc>
                  <a:txBody>
                    <a:bodyPr/>
                    <a:lstStyle/>
                    <a:p>
                      <a:r>
                        <a:rPr lang="it-IT" sz="1400" dirty="0">
                          <a:solidFill>
                            <a:schemeClr val="tx1">
                              <a:lumMod val="75000"/>
                              <a:lumOff val="25000"/>
                            </a:schemeClr>
                          </a:solidFill>
                        </a:rPr>
                        <a:t>Feature </a:t>
                      </a:r>
                      <a:r>
                        <a:rPr lang="it-IT" sz="1400" dirty="0" err="1">
                          <a:solidFill>
                            <a:schemeClr val="tx1">
                              <a:lumMod val="75000"/>
                              <a:lumOff val="25000"/>
                            </a:schemeClr>
                          </a:solidFill>
                        </a:rPr>
                        <a:t>extraction</a:t>
                      </a:r>
                      <a:endParaRPr lang="it-IT" sz="1400" dirty="0">
                        <a:solidFill>
                          <a:schemeClr val="tx1">
                            <a:lumMod val="75000"/>
                            <a:lumOff val="25000"/>
                          </a:schemeClr>
                        </a:solidFill>
                      </a:endParaRPr>
                    </a:p>
                  </a:txBody>
                  <a:tcPr/>
                </a:tc>
                <a:extLst>
                  <a:ext uri="{0D108BD9-81ED-4DB2-BD59-A6C34878D82A}">
                    <a16:rowId xmlns:a16="http://schemas.microsoft.com/office/drawing/2014/main" val="763758342"/>
                  </a:ext>
                </a:extLst>
              </a:tr>
              <a:tr h="176365">
                <a:tc>
                  <a:txBody>
                    <a:bodyPr/>
                    <a:lstStyle/>
                    <a:p>
                      <a:r>
                        <a:rPr lang="en-AU" sz="1400" noProof="0">
                          <a:solidFill>
                            <a:schemeClr val="tx1">
                              <a:lumMod val="75000"/>
                              <a:lumOff val="25000"/>
                            </a:schemeClr>
                          </a:solidFill>
                        </a:rPr>
                        <a:t>batch_size</a:t>
                      </a:r>
                    </a:p>
                  </a:txBody>
                  <a:tcPr/>
                </a:tc>
                <a:tc>
                  <a:txBody>
                    <a:bodyPr/>
                    <a:lstStyle/>
                    <a:p>
                      <a:r>
                        <a:rPr lang="it-IT" sz="1400" dirty="0">
                          <a:solidFill>
                            <a:schemeClr val="tx1">
                              <a:lumMod val="75000"/>
                              <a:lumOff val="25000"/>
                            </a:schemeClr>
                          </a:solidFill>
                        </a:rPr>
                        <a:t>32</a:t>
                      </a:r>
                    </a:p>
                  </a:txBody>
                  <a:tcPr/>
                </a:tc>
                <a:extLst>
                  <a:ext uri="{0D108BD9-81ED-4DB2-BD59-A6C34878D82A}">
                    <a16:rowId xmlns:a16="http://schemas.microsoft.com/office/drawing/2014/main" val="2457596245"/>
                  </a:ext>
                </a:extLst>
              </a:tr>
              <a:tr h="176365">
                <a:tc>
                  <a:txBody>
                    <a:bodyPr/>
                    <a:lstStyle/>
                    <a:p>
                      <a:r>
                        <a:rPr lang="en-AU" sz="1400" noProof="0">
                          <a:solidFill>
                            <a:schemeClr val="tx1">
                              <a:lumMod val="75000"/>
                              <a:lumOff val="25000"/>
                            </a:schemeClr>
                          </a:solidFill>
                        </a:rPr>
                        <a:t>num_epochs</a:t>
                      </a:r>
                    </a:p>
                  </a:txBody>
                  <a:tcPr/>
                </a:tc>
                <a:tc>
                  <a:txBody>
                    <a:bodyPr/>
                    <a:lstStyle/>
                    <a:p>
                      <a:r>
                        <a:rPr lang="it-IT" sz="1400" dirty="0">
                          <a:solidFill>
                            <a:schemeClr val="tx1">
                              <a:lumMod val="75000"/>
                              <a:lumOff val="25000"/>
                            </a:schemeClr>
                          </a:solidFill>
                        </a:rPr>
                        <a:t>30</a:t>
                      </a:r>
                    </a:p>
                  </a:txBody>
                  <a:tcPr/>
                </a:tc>
                <a:extLst>
                  <a:ext uri="{0D108BD9-81ED-4DB2-BD59-A6C34878D82A}">
                    <a16:rowId xmlns:a16="http://schemas.microsoft.com/office/drawing/2014/main" val="736317528"/>
                  </a:ext>
                </a:extLst>
              </a:tr>
              <a:tr h="176365">
                <a:tc>
                  <a:txBody>
                    <a:bodyPr/>
                    <a:lstStyle/>
                    <a:p>
                      <a:r>
                        <a:rPr lang="en-AU" sz="1400" noProof="0" dirty="0" err="1">
                          <a:solidFill>
                            <a:schemeClr val="tx1">
                              <a:lumMod val="75000"/>
                              <a:lumOff val="25000"/>
                            </a:schemeClr>
                          </a:solidFill>
                        </a:rPr>
                        <a:t>loss_function</a:t>
                      </a:r>
                      <a:endParaRPr lang="en-AU" sz="1400" noProof="0" dirty="0">
                        <a:solidFill>
                          <a:schemeClr val="tx1">
                            <a:lumMod val="75000"/>
                            <a:lumOff val="25000"/>
                          </a:schemeClr>
                        </a:solidFill>
                      </a:endParaRPr>
                    </a:p>
                  </a:txBody>
                  <a:tcPr/>
                </a:tc>
                <a:tc>
                  <a:txBody>
                    <a:bodyPr/>
                    <a:lstStyle/>
                    <a:p>
                      <a:r>
                        <a:rPr lang="it-IT" sz="1400" dirty="0">
                          <a:solidFill>
                            <a:schemeClr val="tx1">
                              <a:lumMod val="75000"/>
                              <a:lumOff val="25000"/>
                            </a:schemeClr>
                          </a:solidFill>
                        </a:rPr>
                        <a:t>cross </a:t>
                      </a:r>
                      <a:r>
                        <a:rPr lang="it-IT" sz="1400" dirty="0" err="1">
                          <a:solidFill>
                            <a:schemeClr val="tx1">
                              <a:lumMod val="75000"/>
                              <a:lumOff val="25000"/>
                            </a:schemeClr>
                          </a:solidFill>
                        </a:rPr>
                        <a:t>entropy</a:t>
                      </a:r>
                      <a:endParaRPr lang="it-IT" sz="1400" dirty="0">
                        <a:solidFill>
                          <a:schemeClr val="tx1">
                            <a:lumMod val="75000"/>
                            <a:lumOff val="25000"/>
                          </a:schemeClr>
                        </a:solidFill>
                      </a:endParaRPr>
                    </a:p>
                  </a:txBody>
                  <a:tcPr/>
                </a:tc>
                <a:extLst>
                  <a:ext uri="{0D108BD9-81ED-4DB2-BD59-A6C34878D82A}">
                    <a16:rowId xmlns:a16="http://schemas.microsoft.com/office/drawing/2014/main" val="2060157364"/>
                  </a:ext>
                </a:extLst>
              </a:tr>
              <a:tr h="176365">
                <a:tc>
                  <a:txBody>
                    <a:bodyPr/>
                    <a:lstStyle/>
                    <a:p>
                      <a:r>
                        <a:rPr lang="en-AU" sz="1400" noProof="0">
                          <a:solidFill>
                            <a:schemeClr val="tx1">
                              <a:lumMod val="75000"/>
                              <a:lumOff val="25000"/>
                            </a:schemeClr>
                          </a:solidFill>
                        </a:rPr>
                        <a:t>optimizer</a:t>
                      </a:r>
                    </a:p>
                  </a:txBody>
                  <a:tcPr/>
                </a:tc>
                <a:tc>
                  <a:txBody>
                    <a:bodyPr/>
                    <a:lstStyle/>
                    <a:p>
                      <a:r>
                        <a:rPr lang="it-IT" sz="1400" dirty="0">
                          <a:solidFill>
                            <a:schemeClr val="tx1">
                              <a:lumMod val="75000"/>
                              <a:lumOff val="25000"/>
                            </a:schemeClr>
                          </a:solidFill>
                        </a:rPr>
                        <a:t>Adam</a:t>
                      </a:r>
                    </a:p>
                  </a:txBody>
                  <a:tcPr/>
                </a:tc>
                <a:extLst>
                  <a:ext uri="{0D108BD9-81ED-4DB2-BD59-A6C34878D82A}">
                    <a16:rowId xmlns:a16="http://schemas.microsoft.com/office/drawing/2014/main" val="2877420164"/>
                  </a:ext>
                </a:extLst>
              </a:tr>
              <a:tr h="176365">
                <a:tc>
                  <a:txBody>
                    <a:bodyPr/>
                    <a:lstStyle/>
                    <a:p>
                      <a:r>
                        <a:rPr lang="en-AU" sz="1400" noProof="0">
                          <a:solidFill>
                            <a:schemeClr val="tx1">
                              <a:lumMod val="75000"/>
                              <a:lumOff val="25000"/>
                            </a:schemeClr>
                          </a:solidFill>
                        </a:rPr>
                        <a:t>learning_rate</a:t>
                      </a:r>
                    </a:p>
                  </a:txBody>
                  <a:tcPr/>
                </a:tc>
                <a:tc>
                  <a:txBody>
                    <a:bodyPr/>
                    <a:lstStyle/>
                    <a:p>
                      <a:r>
                        <a:rPr lang="it-IT" sz="1400" dirty="0">
                          <a:solidFill>
                            <a:schemeClr val="tx1">
                              <a:lumMod val="75000"/>
                              <a:lumOff val="25000"/>
                            </a:schemeClr>
                          </a:solidFill>
                        </a:rPr>
                        <a:t>0.00001</a:t>
                      </a:r>
                    </a:p>
                  </a:txBody>
                  <a:tcPr/>
                </a:tc>
                <a:extLst>
                  <a:ext uri="{0D108BD9-81ED-4DB2-BD59-A6C34878D82A}">
                    <a16:rowId xmlns:a16="http://schemas.microsoft.com/office/drawing/2014/main" val="3786409558"/>
                  </a:ext>
                </a:extLst>
              </a:tr>
            </a:tbl>
          </a:graphicData>
        </a:graphic>
      </p:graphicFrame>
    </p:spTree>
    <p:extLst>
      <p:ext uri="{BB962C8B-B14F-4D97-AF65-F5344CB8AC3E}">
        <p14:creationId xmlns:p14="http://schemas.microsoft.com/office/powerpoint/2010/main" val="1909307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A9C8AB-310C-4A48-AEE0-295DF52DF272}"/>
              </a:ext>
            </a:extLst>
          </p:cNvPr>
          <p:cNvSpPr>
            <a:spLocks noGrp="1"/>
          </p:cNvSpPr>
          <p:nvPr>
            <p:ph type="title"/>
          </p:nvPr>
        </p:nvSpPr>
        <p:spPr/>
        <p:txBody>
          <a:bodyPr anchor="ctr"/>
          <a:lstStyle/>
          <a:p>
            <a:r>
              <a:rPr lang="en-GB" dirty="0"/>
              <a:t>Model selection</a:t>
            </a:r>
          </a:p>
        </p:txBody>
      </p:sp>
      <p:sp>
        <p:nvSpPr>
          <p:cNvPr id="3" name="Segnaposto contenuto 2">
            <a:extLst>
              <a:ext uri="{FF2B5EF4-FFF2-40B4-BE49-F238E27FC236}">
                <a16:creationId xmlns:a16="http://schemas.microsoft.com/office/drawing/2014/main" id="{FFFE7C81-58D9-4D70-9959-B25CF4CFC594}"/>
              </a:ext>
            </a:extLst>
          </p:cNvPr>
          <p:cNvSpPr>
            <a:spLocks noGrp="1"/>
          </p:cNvSpPr>
          <p:nvPr>
            <p:ph idx="1"/>
          </p:nvPr>
        </p:nvSpPr>
        <p:spPr>
          <a:xfrm>
            <a:off x="677334" y="1930400"/>
            <a:ext cx="8596668" cy="3880773"/>
          </a:xfrm>
        </p:spPr>
        <p:txBody>
          <a:bodyPr>
            <a:normAutofit/>
          </a:bodyPr>
          <a:lstStyle/>
          <a:p>
            <a:r>
              <a:rPr lang="en-US" dirty="0"/>
              <a:t>Train each model on the union of training and validation data, with the hyperparameters found in the previous stage.</a:t>
            </a:r>
          </a:p>
          <a:p>
            <a:r>
              <a:rPr lang="en-US" dirty="0"/>
              <a:t>Evaluate models’ performance on an </a:t>
            </a:r>
            <a:r>
              <a:rPr lang="en-US" b="1" dirty="0"/>
              <a:t>independent</a:t>
            </a:r>
            <a:r>
              <a:rPr lang="en-US" dirty="0"/>
              <a:t> test set.</a:t>
            </a:r>
          </a:p>
          <a:p>
            <a:pPr lvl="1"/>
            <a:r>
              <a:rPr lang="en-US" dirty="0"/>
              <a:t>The model that gains the best performance on the test set is chosen for the submission.</a:t>
            </a:r>
          </a:p>
        </p:txBody>
      </p:sp>
      <p:graphicFrame>
        <p:nvGraphicFramePr>
          <p:cNvPr id="4" name="Tabella 4">
            <a:extLst>
              <a:ext uri="{FF2B5EF4-FFF2-40B4-BE49-F238E27FC236}">
                <a16:creationId xmlns:a16="http://schemas.microsoft.com/office/drawing/2014/main" id="{A2F113E4-6938-4B4D-8A32-5D1DD59218F6}"/>
              </a:ext>
            </a:extLst>
          </p:cNvPr>
          <p:cNvGraphicFramePr>
            <a:graphicFrameLocks noGrp="1"/>
          </p:cNvGraphicFramePr>
          <p:nvPr>
            <p:extLst>
              <p:ext uri="{D42A27DB-BD31-4B8C-83A1-F6EECF244321}">
                <p14:modId xmlns:p14="http://schemas.microsoft.com/office/powerpoint/2010/main" val="1154354975"/>
              </p:ext>
            </p:extLst>
          </p:nvPr>
        </p:nvGraphicFramePr>
        <p:xfrm>
          <a:off x="1093610" y="3870786"/>
          <a:ext cx="7764116" cy="1432560"/>
        </p:xfrm>
        <a:graphic>
          <a:graphicData uri="http://schemas.openxmlformats.org/drawingml/2006/table">
            <a:tbl>
              <a:tblPr firstRow="1" bandRow="1">
                <a:tableStyleId>{5C22544A-7EE6-4342-B048-85BDC9FD1C3A}</a:tableStyleId>
              </a:tblPr>
              <a:tblGrid>
                <a:gridCol w="1941029">
                  <a:extLst>
                    <a:ext uri="{9D8B030D-6E8A-4147-A177-3AD203B41FA5}">
                      <a16:colId xmlns:a16="http://schemas.microsoft.com/office/drawing/2014/main" val="1237118769"/>
                    </a:ext>
                  </a:extLst>
                </a:gridCol>
                <a:gridCol w="1941029">
                  <a:extLst>
                    <a:ext uri="{9D8B030D-6E8A-4147-A177-3AD203B41FA5}">
                      <a16:colId xmlns:a16="http://schemas.microsoft.com/office/drawing/2014/main" val="312128539"/>
                    </a:ext>
                  </a:extLst>
                </a:gridCol>
                <a:gridCol w="1941029">
                  <a:extLst>
                    <a:ext uri="{9D8B030D-6E8A-4147-A177-3AD203B41FA5}">
                      <a16:colId xmlns:a16="http://schemas.microsoft.com/office/drawing/2014/main" val="771033031"/>
                    </a:ext>
                  </a:extLst>
                </a:gridCol>
                <a:gridCol w="1941029">
                  <a:extLst>
                    <a:ext uri="{9D8B030D-6E8A-4147-A177-3AD203B41FA5}">
                      <a16:colId xmlns:a16="http://schemas.microsoft.com/office/drawing/2014/main" val="2552696644"/>
                    </a:ext>
                  </a:extLst>
                </a:gridCol>
              </a:tblGrid>
              <a:tr h="464036">
                <a:tc>
                  <a:txBody>
                    <a:bodyPr/>
                    <a:lstStyle/>
                    <a:p>
                      <a:r>
                        <a:rPr lang="en-AU" sz="1400" noProof="0" dirty="0"/>
                        <a:t>Model </a:t>
                      </a:r>
                    </a:p>
                  </a:txBody>
                  <a:tcPr/>
                </a:tc>
                <a:tc>
                  <a:txBody>
                    <a:bodyPr/>
                    <a:lstStyle/>
                    <a:p>
                      <a:r>
                        <a:rPr lang="en-AU" sz="1400" noProof="0" dirty="0"/>
                        <a:t>Accuracy on test set</a:t>
                      </a:r>
                    </a:p>
                  </a:txBody>
                  <a:tcPr/>
                </a:tc>
                <a:tc>
                  <a:txBody>
                    <a:bodyPr/>
                    <a:lstStyle/>
                    <a:p>
                      <a:r>
                        <a:rPr lang="en-AU" sz="1400" noProof="0" dirty="0"/>
                        <a:t>Accuracy on public </a:t>
                      </a:r>
                      <a:r>
                        <a:rPr lang="en-AU" sz="1400" noProof="0" dirty="0" err="1"/>
                        <a:t>leaderboard</a:t>
                      </a:r>
                      <a:endParaRPr lang="en-AU" sz="1400" noProof="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400" noProof="0" dirty="0"/>
                        <a:t>Accuracy on public </a:t>
                      </a:r>
                      <a:r>
                        <a:rPr lang="en-AU" sz="1400" noProof="0" dirty="0" err="1"/>
                        <a:t>leaderboard</a:t>
                      </a:r>
                      <a:endParaRPr lang="en-AU" sz="1400" noProof="0" dirty="0"/>
                    </a:p>
                  </a:txBody>
                  <a:tcPr/>
                </a:tc>
                <a:extLst>
                  <a:ext uri="{0D108BD9-81ED-4DB2-BD59-A6C34878D82A}">
                    <a16:rowId xmlns:a16="http://schemas.microsoft.com/office/drawing/2014/main" val="2965999055"/>
                  </a:ext>
                </a:extLst>
              </a:tr>
              <a:tr h="272962">
                <a:tc>
                  <a:txBody>
                    <a:bodyPr/>
                    <a:lstStyle/>
                    <a:p>
                      <a:r>
                        <a:rPr lang="en-AU" sz="1400" noProof="0" dirty="0"/>
                        <a:t>AlexNet</a:t>
                      </a:r>
                    </a:p>
                  </a:txBody>
                  <a:tcPr/>
                </a:tc>
                <a:tc>
                  <a:txBody>
                    <a:bodyPr/>
                    <a:lstStyle/>
                    <a:p>
                      <a:r>
                        <a:rPr lang="en-AU" sz="1400" noProof="0" dirty="0"/>
                        <a:t>0.79139</a:t>
                      </a:r>
                    </a:p>
                  </a:txBody>
                  <a:tcPr/>
                </a:tc>
                <a:tc>
                  <a:txBody>
                    <a:bodyPr/>
                    <a:lstStyle/>
                    <a:p>
                      <a:r>
                        <a:rPr lang="en-AU" sz="1400" noProof="0" dirty="0"/>
                        <a:t>-</a:t>
                      </a:r>
                    </a:p>
                  </a:txBody>
                  <a:tcPr/>
                </a:tc>
                <a:tc>
                  <a:txBody>
                    <a:bodyPr/>
                    <a:lstStyle/>
                    <a:p>
                      <a:r>
                        <a:rPr lang="en-AU" sz="1400" noProof="0" dirty="0"/>
                        <a:t>-</a:t>
                      </a:r>
                    </a:p>
                  </a:txBody>
                  <a:tcPr/>
                </a:tc>
                <a:extLst>
                  <a:ext uri="{0D108BD9-81ED-4DB2-BD59-A6C34878D82A}">
                    <a16:rowId xmlns:a16="http://schemas.microsoft.com/office/drawing/2014/main" val="497043984"/>
                  </a:ext>
                </a:extLst>
              </a:tr>
              <a:tr h="272962">
                <a:tc>
                  <a:txBody>
                    <a:bodyPr/>
                    <a:lstStyle/>
                    <a:p>
                      <a:r>
                        <a:rPr lang="en-AU" sz="1400" noProof="0" dirty="0"/>
                        <a:t>VGG11_bn</a:t>
                      </a:r>
                    </a:p>
                  </a:txBody>
                  <a:tcPr/>
                </a:tc>
                <a:tc>
                  <a:txBody>
                    <a:bodyPr/>
                    <a:lstStyle/>
                    <a:p>
                      <a:r>
                        <a:rPr lang="en-AU" sz="1400" noProof="0" dirty="0"/>
                        <a:t>0.95364</a:t>
                      </a:r>
                    </a:p>
                  </a:txBody>
                  <a:tcPr/>
                </a:tc>
                <a:tc>
                  <a:txBody>
                    <a:bodyPr/>
                    <a:lstStyle/>
                    <a:p>
                      <a:r>
                        <a:rPr lang="en-AU" sz="1400" noProof="0" dirty="0"/>
                        <a:t>0.98058</a:t>
                      </a:r>
                    </a:p>
                  </a:txBody>
                  <a:tcPr/>
                </a:tc>
                <a:tc>
                  <a:txBody>
                    <a:bodyPr/>
                    <a:lstStyle/>
                    <a:p>
                      <a:r>
                        <a:rPr lang="en-AU" sz="1400" noProof="0" dirty="0"/>
                        <a:t>0.95748</a:t>
                      </a:r>
                    </a:p>
                  </a:txBody>
                  <a:tcPr/>
                </a:tc>
                <a:extLst>
                  <a:ext uri="{0D108BD9-81ED-4DB2-BD59-A6C34878D82A}">
                    <a16:rowId xmlns:a16="http://schemas.microsoft.com/office/drawing/2014/main" val="2124862861"/>
                  </a:ext>
                </a:extLst>
              </a:tr>
              <a:tr h="272962">
                <a:tc>
                  <a:txBody>
                    <a:bodyPr/>
                    <a:lstStyle/>
                    <a:p>
                      <a:r>
                        <a:rPr lang="en-AU" sz="1400" noProof="0" dirty="0" err="1"/>
                        <a:t>GoogLeNet</a:t>
                      </a:r>
                      <a:endParaRPr lang="en-AU" sz="1400" noProof="0" dirty="0"/>
                    </a:p>
                  </a:txBody>
                  <a:tcPr/>
                </a:tc>
                <a:tc>
                  <a:txBody>
                    <a:bodyPr/>
                    <a:lstStyle/>
                    <a:p>
                      <a:r>
                        <a:rPr lang="en-AU" sz="1400" noProof="0" dirty="0"/>
                        <a:t>0.97019</a:t>
                      </a:r>
                    </a:p>
                  </a:txBody>
                  <a:tcPr/>
                </a:tc>
                <a:tc>
                  <a:txBody>
                    <a:bodyPr/>
                    <a:lstStyle/>
                    <a:p>
                      <a:r>
                        <a:rPr lang="en-AU" sz="1400" noProof="0" dirty="0"/>
                        <a:t>0.98058</a:t>
                      </a:r>
                    </a:p>
                  </a:txBody>
                  <a:tcPr/>
                </a:tc>
                <a:tc>
                  <a:txBody>
                    <a:bodyPr/>
                    <a:lstStyle/>
                    <a:p>
                      <a:r>
                        <a:rPr lang="en-AU" sz="1400" noProof="0" dirty="0"/>
                        <a:t>0.98897</a:t>
                      </a:r>
                    </a:p>
                  </a:txBody>
                  <a:tcPr/>
                </a:tc>
                <a:extLst>
                  <a:ext uri="{0D108BD9-81ED-4DB2-BD59-A6C34878D82A}">
                    <a16:rowId xmlns:a16="http://schemas.microsoft.com/office/drawing/2014/main" val="1914452919"/>
                  </a:ext>
                </a:extLst>
              </a:tr>
            </a:tbl>
          </a:graphicData>
        </a:graphic>
      </p:graphicFrame>
      <p:sp>
        <p:nvSpPr>
          <p:cNvPr id="5" name="Ovale 4">
            <a:extLst>
              <a:ext uri="{FF2B5EF4-FFF2-40B4-BE49-F238E27FC236}">
                <a16:creationId xmlns:a16="http://schemas.microsoft.com/office/drawing/2014/main" id="{BE5DB9F5-0B13-4F00-BABB-C0D2A02E1B8B}"/>
              </a:ext>
            </a:extLst>
          </p:cNvPr>
          <p:cNvSpPr/>
          <p:nvPr/>
        </p:nvSpPr>
        <p:spPr>
          <a:xfrm>
            <a:off x="3056890" y="5038398"/>
            <a:ext cx="773430" cy="236394"/>
          </a:xfrm>
          <a:prstGeom prst="ellipse">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it-IT"/>
          </a:p>
        </p:txBody>
      </p:sp>
      <p:sp>
        <p:nvSpPr>
          <p:cNvPr id="6" name="CasellaDiTesto 5">
            <a:extLst>
              <a:ext uri="{FF2B5EF4-FFF2-40B4-BE49-F238E27FC236}">
                <a16:creationId xmlns:a16="http://schemas.microsoft.com/office/drawing/2014/main" id="{BB9EDE2A-E380-489F-8F92-2AED34EDD8C5}"/>
              </a:ext>
            </a:extLst>
          </p:cNvPr>
          <p:cNvSpPr txBox="1"/>
          <p:nvPr/>
        </p:nvSpPr>
        <p:spPr>
          <a:xfrm>
            <a:off x="2917998" y="5482632"/>
            <a:ext cx="3861787" cy="338554"/>
          </a:xfrm>
          <a:prstGeom prst="rect">
            <a:avLst/>
          </a:prstGeom>
          <a:noFill/>
        </p:spPr>
        <p:txBody>
          <a:bodyPr wrap="square" rtlCol="0">
            <a:spAutoFit/>
          </a:bodyPr>
          <a:lstStyle/>
          <a:p>
            <a:pPr algn="ctr"/>
            <a:r>
              <a:rPr lang="en-AU" sz="1600" dirty="0">
                <a:solidFill>
                  <a:schemeClr val="accent1"/>
                </a:solidFill>
              </a:rPr>
              <a:t>Select </a:t>
            </a:r>
            <a:r>
              <a:rPr lang="en-AU" sz="1600" dirty="0" err="1">
                <a:solidFill>
                  <a:schemeClr val="accent1"/>
                </a:solidFill>
              </a:rPr>
              <a:t>GoogLeNet</a:t>
            </a:r>
            <a:r>
              <a:rPr lang="en-AU" sz="1600" dirty="0">
                <a:solidFill>
                  <a:schemeClr val="accent1"/>
                </a:solidFill>
              </a:rPr>
              <a:t> as final model</a:t>
            </a:r>
          </a:p>
        </p:txBody>
      </p:sp>
    </p:spTree>
    <p:extLst>
      <p:ext uri="{BB962C8B-B14F-4D97-AF65-F5344CB8AC3E}">
        <p14:creationId xmlns:p14="http://schemas.microsoft.com/office/powerpoint/2010/main" val="147466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6582886-877C-4AEC-A77F-8055EB9A0C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9" name="Freeform 14">
              <a:extLst>
                <a:ext uri="{FF2B5EF4-FFF2-40B4-BE49-F238E27FC236}">
                  <a16:creationId xmlns:a16="http://schemas.microsoft.com/office/drawing/2014/main" id="{171A838D-27EA-485C-9A80-DCE624AB30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0" name="Straight Connector 9">
              <a:extLst>
                <a:ext uri="{FF2B5EF4-FFF2-40B4-BE49-F238E27FC236}">
                  <a16:creationId xmlns:a16="http://schemas.microsoft.com/office/drawing/2014/main" id="{9059F313-A1BB-425E-9626-2BD43CAC648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9ABF76A-A1AE-44BB-9ECB-D55D2FE29B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5B6D2EC4-82D3-43B8-82D6-028CB4345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520034CE-71F9-4E0F-94D8-99335CB85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1926C6C0-16F7-4CDC-B481-2D19B2F3B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042CE423-CE6E-4EE9-91F2-3E40EFB40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699BB4BD-31D7-434C-A6DB-E2CF3ACF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23D406B8-656A-4D8B-91D0-BF4202C86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83F4BFB6-D6B8-446C-8E17-3D54DCA9F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0" name="Rectangle 19">
            <a:extLst>
              <a:ext uri="{FF2B5EF4-FFF2-40B4-BE49-F238E27FC236}">
                <a16:creationId xmlns:a16="http://schemas.microsoft.com/office/drawing/2014/main" id="{2783C067-F8BF-4755-B516-8A0CD74CF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64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2ED796EC-E7FF-46DB-B912-FB08BF12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549A2DAB-B431-487D-95AD-BB0FECB49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38534" y="3818467"/>
            <a:ext cx="4450292" cy="3039533"/>
          </a:xfrm>
          <a:prstGeom prst="triangle">
            <a:avLst>
              <a:gd name="adj" fmla="val 100000"/>
            </a:avLst>
          </a:prstGeom>
          <a:solidFill>
            <a:schemeClr val="accent1">
              <a:lumMod val="75000"/>
              <a:alpha val="88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26" name="Straight Connector 25">
            <a:extLst>
              <a:ext uri="{FF2B5EF4-FFF2-40B4-BE49-F238E27FC236}">
                <a16:creationId xmlns:a16="http://schemas.microsoft.com/office/drawing/2014/main" id="{C5ECDEE1-7093-418F-9CF5-24EEB115C1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134600" y="0"/>
            <a:ext cx="1727200" cy="6858000"/>
          </a:xfrm>
          <a:prstGeom prst="line">
            <a:avLst/>
          </a:prstGeom>
          <a:ln w="15875" cap="sq">
            <a:solidFill>
              <a:schemeClr val="accent2"/>
            </a:solidFill>
            <a:beve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45062AF-EB11-4651-BC4A-4DA21768D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15875">
            <a:solidFill>
              <a:schemeClr val="accent1"/>
            </a:solidFill>
          </a:ln>
        </p:spPr>
        <p:style>
          <a:lnRef idx="2">
            <a:schemeClr val="accent1"/>
          </a:lnRef>
          <a:fillRef idx="0">
            <a:schemeClr val="accent1"/>
          </a:fillRef>
          <a:effectRef idx="1">
            <a:schemeClr val="accent1"/>
          </a:effectRef>
          <a:fontRef idx="minor">
            <a:schemeClr val="tx1"/>
          </a:fontRef>
        </p:style>
      </p:cxnSp>
      <p:sp>
        <p:nvSpPr>
          <p:cNvPr id="3" name="Segnaposto testo 2">
            <a:extLst>
              <a:ext uri="{FF2B5EF4-FFF2-40B4-BE49-F238E27FC236}">
                <a16:creationId xmlns:a16="http://schemas.microsoft.com/office/drawing/2014/main" id="{0720D15E-47D6-4D6F-83C9-9BB002FA8EAB}"/>
              </a:ext>
            </a:extLst>
          </p:cNvPr>
          <p:cNvSpPr>
            <a:spLocks noGrp="1"/>
          </p:cNvSpPr>
          <p:nvPr>
            <p:ph type="body" idx="1"/>
          </p:nvPr>
        </p:nvSpPr>
        <p:spPr>
          <a:xfrm>
            <a:off x="1507067" y="4050833"/>
            <a:ext cx="7766936" cy="1096899"/>
          </a:xfrm>
        </p:spPr>
        <p:txBody>
          <a:bodyPr vert="horz" lIns="91440" tIns="45720" rIns="91440" bIns="45720" rtlCol="0" anchor="t">
            <a:normAutofit/>
          </a:bodyPr>
          <a:lstStyle/>
          <a:p>
            <a:pPr algn="r"/>
            <a:r>
              <a:rPr lang="en-US" sz="1800" dirty="0"/>
              <a:t>Submitting the solution found</a:t>
            </a:r>
          </a:p>
        </p:txBody>
      </p:sp>
      <p:sp>
        <p:nvSpPr>
          <p:cNvPr id="2" name="Titolo 1">
            <a:extLst>
              <a:ext uri="{FF2B5EF4-FFF2-40B4-BE49-F238E27FC236}">
                <a16:creationId xmlns:a16="http://schemas.microsoft.com/office/drawing/2014/main" id="{8C870FF0-01B0-4F01-A4E9-D9F474B0259D}"/>
              </a:ext>
            </a:extLst>
          </p:cNvPr>
          <p:cNvSpPr>
            <a:spLocks noGrp="1"/>
          </p:cNvSpPr>
          <p:nvPr>
            <p:ph type="title"/>
          </p:nvPr>
        </p:nvSpPr>
        <p:spPr>
          <a:xfrm>
            <a:off x="1507067" y="1397000"/>
            <a:ext cx="7766936" cy="2653836"/>
          </a:xfrm>
        </p:spPr>
        <p:txBody>
          <a:bodyPr vert="horz" lIns="91440" tIns="45720" rIns="91440" bIns="45720" rtlCol="0" anchor="b">
            <a:normAutofit/>
          </a:bodyPr>
          <a:lstStyle/>
          <a:p>
            <a:pPr algn="r"/>
            <a:r>
              <a:rPr lang="en-US" sz="4800" dirty="0"/>
              <a:t>Submission</a:t>
            </a:r>
          </a:p>
        </p:txBody>
      </p:sp>
      <p:sp>
        <p:nvSpPr>
          <p:cNvPr id="30" name="Rectangle 27">
            <a:extLst>
              <a:ext uri="{FF2B5EF4-FFF2-40B4-BE49-F238E27FC236}">
                <a16:creationId xmlns:a16="http://schemas.microsoft.com/office/drawing/2014/main" id="{0819F787-32B4-46A8-BC57-C6571BCEE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5641" y="0"/>
            <a:ext cx="1766359" cy="685800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94181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A9C8AB-310C-4A48-AEE0-295DF52DF272}"/>
              </a:ext>
            </a:extLst>
          </p:cNvPr>
          <p:cNvSpPr>
            <a:spLocks noGrp="1"/>
          </p:cNvSpPr>
          <p:nvPr>
            <p:ph type="title"/>
          </p:nvPr>
        </p:nvSpPr>
        <p:spPr/>
        <p:txBody>
          <a:bodyPr anchor="ctr"/>
          <a:lstStyle/>
          <a:p>
            <a:r>
              <a:rPr lang="en-GB" dirty="0"/>
              <a:t>Submission</a:t>
            </a:r>
          </a:p>
        </p:txBody>
      </p:sp>
      <p:sp>
        <p:nvSpPr>
          <p:cNvPr id="3" name="Segnaposto contenuto 2">
            <a:extLst>
              <a:ext uri="{FF2B5EF4-FFF2-40B4-BE49-F238E27FC236}">
                <a16:creationId xmlns:a16="http://schemas.microsoft.com/office/drawing/2014/main" id="{FFFE7C81-58D9-4D70-9959-B25CF4CFC594}"/>
              </a:ext>
            </a:extLst>
          </p:cNvPr>
          <p:cNvSpPr>
            <a:spLocks noGrp="1"/>
          </p:cNvSpPr>
          <p:nvPr>
            <p:ph idx="1"/>
          </p:nvPr>
        </p:nvSpPr>
        <p:spPr>
          <a:xfrm>
            <a:off x="677334" y="1930400"/>
            <a:ext cx="8596668" cy="1254125"/>
          </a:xfrm>
        </p:spPr>
        <p:txBody>
          <a:bodyPr>
            <a:normAutofit/>
          </a:bodyPr>
          <a:lstStyle/>
          <a:p>
            <a:r>
              <a:rPr lang="en-US" dirty="0"/>
              <a:t>Train the final model using the whole training set.</a:t>
            </a:r>
          </a:p>
          <a:p>
            <a:r>
              <a:rPr lang="en-US" dirty="0"/>
              <a:t>Predict the class label for the instances of the (original) test set.</a:t>
            </a:r>
          </a:p>
          <a:p>
            <a:pPr lvl="1"/>
            <a:r>
              <a:rPr lang="en-US" dirty="0"/>
              <a:t>Plot the class distribution of the test images:</a:t>
            </a:r>
          </a:p>
          <a:p>
            <a:pPr marL="457200" lvl="1" indent="0">
              <a:buNone/>
            </a:pPr>
            <a:endParaRPr lang="en-US" dirty="0"/>
          </a:p>
        </p:txBody>
      </p:sp>
      <p:pic>
        <p:nvPicPr>
          <p:cNvPr id="4" name="Immagine 3">
            <a:extLst>
              <a:ext uri="{FF2B5EF4-FFF2-40B4-BE49-F238E27FC236}">
                <a16:creationId xmlns:a16="http://schemas.microsoft.com/office/drawing/2014/main" id="{0F299EC9-61E5-43C0-96E1-32230E4AE479}"/>
              </a:ext>
            </a:extLst>
          </p:cNvPr>
          <p:cNvPicPr>
            <a:picLocks noChangeAspect="1"/>
          </p:cNvPicPr>
          <p:nvPr/>
        </p:nvPicPr>
        <p:blipFill>
          <a:blip r:embed="rId2"/>
          <a:srcRect/>
          <a:stretch/>
        </p:blipFill>
        <p:spPr>
          <a:xfrm>
            <a:off x="3161686" y="3211159"/>
            <a:ext cx="3620114" cy="2238873"/>
          </a:xfrm>
          <a:prstGeom prst="rect">
            <a:avLst/>
          </a:prstGeom>
        </p:spPr>
      </p:pic>
      <p:sp>
        <p:nvSpPr>
          <p:cNvPr id="9" name="Segnaposto contenuto 2">
            <a:extLst>
              <a:ext uri="{FF2B5EF4-FFF2-40B4-BE49-F238E27FC236}">
                <a16:creationId xmlns:a16="http://schemas.microsoft.com/office/drawing/2014/main" id="{B68968DE-F8C2-48F7-BA67-91B97CF7E09B}"/>
              </a:ext>
            </a:extLst>
          </p:cNvPr>
          <p:cNvSpPr txBox="1">
            <a:spLocks/>
          </p:cNvSpPr>
          <p:nvPr/>
        </p:nvSpPr>
        <p:spPr>
          <a:xfrm>
            <a:off x="554526" y="5562846"/>
            <a:ext cx="8596668" cy="42958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Create the submission file.</a:t>
            </a:r>
          </a:p>
          <a:p>
            <a:pPr marL="457200" lvl="1" indent="0">
              <a:buFont typeface="Wingdings 3" charset="2"/>
              <a:buNone/>
            </a:pPr>
            <a:endParaRPr lang="en-US" dirty="0"/>
          </a:p>
        </p:txBody>
      </p:sp>
    </p:spTree>
    <p:extLst>
      <p:ext uri="{BB962C8B-B14F-4D97-AF65-F5344CB8AC3E}">
        <p14:creationId xmlns:p14="http://schemas.microsoft.com/office/powerpoint/2010/main" val="778817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AFB369-4673-4727-A7CD-D86AFE0AE0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9" name="Freeform 14">
              <a:extLst>
                <a:ext uri="{FF2B5EF4-FFF2-40B4-BE49-F238E27FC236}">
                  <a16:creationId xmlns:a16="http://schemas.microsoft.com/office/drawing/2014/main" id="{50709826-4D6B-4A97-8DB3-5DA166626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0" name="Straight Connector 9">
              <a:extLst>
                <a:ext uri="{FF2B5EF4-FFF2-40B4-BE49-F238E27FC236}">
                  <a16:creationId xmlns:a16="http://schemas.microsoft.com/office/drawing/2014/main" id="{47263F58-6EE6-45B3-9BF2-C0BD5D30A5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197CE03-EB81-4718-BEA1-C2D488961E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A3451629-72D6-4E33-A99A-40FAF7445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E04F0FD4-BCD5-4435-A6B5-A2E69303B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DE110F09-1C81-4E73-B5E9-D857CD879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273A9C01-06BD-4E8E-8BBF-2E2A9ECF4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B206C9B2-27BE-4B6F-A4D0-485FBBEB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2E7D673E-0C5C-4F2B-B46E-3E9286B9E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F0F78B34-9B26-4CA9-B8F0-B9638730F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pic>
        <p:nvPicPr>
          <p:cNvPr id="4" name="Picture 3">
            <a:extLst>
              <a:ext uri="{FF2B5EF4-FFF2-40B4-BE49-F238E27FC236}">
                <a16:creationId xmlns:a16="http://schemas.microsoft.com/office/drawing/2014/main" id="{FE6545A4-01E7-4DDD-9D8E-13B2A9516FE8}"/>
              </a:ext>
            </a:extLst>
          </p:cNvPr>
          <p:cNvPicPr>
            <a:picLocks noChangeAspect="1"/>
          </p:cNvPicPr>
          <p:nvPr/>
        </p:nvPicPr>
        <p:blipFill rotWithShape="1">
          <a:blip r:embed="rId2"/>
          <a:srcRect l="41000"/>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2" name="Titolo 1">
            <a:extLst>
              <a:ext uri="{FF2B5EF4-FFF2-40B4-BE49-F238E27FC236}">
                <a16:creationId xmlns:a16="http://schemas.microsoft.com/office/drawing/2014/main" id="{969F0A39-2004-47E5-9EF3-78A07E636C7D}"/>
              </a:ext>
            </a:extLst>
          </p:cNvPr>
          <p:cNvSpPr>
            <a:spLocks noGrp="1"/>
          </p:cNvSpPr>
          <p:nvPr>
            <p:ph type="title"/>
          </p:nvPr>
        </p:nvSpPr>
        <p:spPr>
          <a:xfrm>
            <a:off x="5380563" y="1678665"/>
            <a:ext cx="3887839" cy="2372168"/>
          </a:xfrm>
        </p:spPr>
        <p:txBody>
          <a:bodyPr vert="horz" lIns="91440" tIns="45720" rIns="91440" bIns="45720" rtlCol="0" anchor="b">
            <a:normAutofit/>
          </a:bodyPr>
          <a:lstStyle/>
          <a:p>
            <a:pPr algn="r"/>
            <a:r>
              <a:rPr lang="en-US" sz="4800" dirty="0"/>
              <a:t>Questions ?</a:t>
            </a:r>
            <a:endParaRPr lang="en-US" sz="5400" dirty="0"/>
          </a:p>
        </p:txBody>
      </p:sp>
    </p:spTree>
    <p:extLst>
      <p:ext uri="{BB962C8B-B14F-4D97-AF65-F5344CB8AC3E}">
        <p14:creationId xmlns:p14="http://schemas.microsoft.com/office/powerpoint/2010/main" val="561954528"/>
      </p:ext>
    </p:extLst>
  </p:cSld>
  <p:clrMapOvr>
    <a:masterClrMapping/>
  </p:clrMapOvr>
</p:sld>
</file>

<file path=ppt/theme/theme1.xml><?xml version="1.0" encoding="utf-8"?>
<a:theme xmlns:a="http://schemas.openxmlformats.org/drawingml/2006/main" name="Sfaccettatura">
  <a:themeElements>
    <a:clrScheme name="Blu verde">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otalTime>187</TotalTime>
  <Words>939</Words>
  <Application>Microsoft Office PowerPoint</Application>
  <PresentationFormat>Widescreen</PresentationFormat>
  <Paragraphs>170</Paragraphs>
  <Slides>22</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22</vt:i4>
      </vt:variant>
    </vt:vector>
  </HeadingPairs>
  <TitlesOfParts>
    <vt:vector size="26" baseType="lpstr">
      <vt:lpstr>Arial</vt:lpstr>
      <vt:lpstr>Trebuchet MS</vt:lpstr>
      <vt:lpstr>Wingdings 3</vt:lpstr>
      <vt:lpstr>Sfaccettatura</vt:lpstr>
      <vt:lpstr>Parasite Eggs Identification</vt:lpstr>
      <vt:lpstr>Introduction</vt:lpstr>
      <vt:lpstr>Introduction</vt:lpstr>
      <vt:lpstr>Exploratory Data Analysis</vt:lpstr>
      <vt:lpstr>Exploratory Data Analysis (1/4)</vt:lpstr>
      <vt:lpstr>Exploratory Data Analysis (2/4)</vt:lpstr>
      <vt:lpstr>Exploratory Data Analysis (3/4)</vt:lpstr>
      <vt:lpstr>Exploratory Data Analysis (4/4)</vt:lpstr>
      <vt:lpstr>Data preparation</vt:lpstr>
      <vt:lpstr>Data preparation (1/3)</vt:lpstr>
      <vt:lpstr>Data preparation (2/3)</vt:lpstr>
      <vt:lpstr>Data preparation (3/3)</vt:lpstr>
      <vt:lpstr>Modelling</vt:lpstr>
      <vt:lpstr>Modelling</vt:lpstr>
      <vt:lpstr>Hyperparameters tuning (1/4)</vt:lpstr>
      <vt:lpstr>Hyperparameters tuning (2/4)</vt:lpstr>
      <vt:lpstr>Hyperparameters tuning (2/4)</vt:lpstr>
      <vt:lpstr>Hyperparameters tuning (1/4)</vt:lpstr>
      <vt:lpstr>Model selection</vt:lpstr>
      <vt:lpstr>Submission</vt:lpstr>
      <vt:lpstr>Submission</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Parasite Eggs Identification</dc:title>
  <dc:creator>fabio.dandrea.1997@gmail.com</dc:creator>
  <cp:lastModifiedBy>fabio.dandrea.1997@gmail.com</cp:lastModifiedBy>
  <cp:revision>6</cp:revision>
  <dcterms:created xsi:type="dcterms:W3CDTF">2020-12-17T13:02:48Z</dcterms:created>
  <dcterms:modified xsi:type="dcterms:W3CDTF">2020-12-18T11:54:11Z</dcterms:modified>
</cp:coreProperties>
</file>